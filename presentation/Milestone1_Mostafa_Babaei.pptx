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3BB52EB-675B-2880-597F-9725BE052CDE}">
          <p14:sldIdLst>
            <p14:sldId id="256"/>
          </p14:sldIdLst>
        </p14:section>
        <p14:section name="Mostafa Babaei" id="{0C26BE68-F604-C4C9-FDAD-509ECB3F231D}">
          <p14:sldIdLst>
            <p14:sldId id="257"/>
            <p14:sldId id="258"/>
            <p14:sldId id="259"/>
            <p14:sldId id="260"/>
            <p14:sldId id="261"/>
            <p14:sldId id="262"/>
            <p14:sldId id="263"/>
          </p14:sldIdLst>
        </p14:section>
        <p14:section name="Next steps" id="{54DB4EE7-4467-CDD0-46CF-DC258E8906E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2"/>
    <p:restoredTop sz="94610"/>
  </p:normalViewPr>
  <p:slideViewPr>
    <p:cSldViewPr snapToGrid="0" snapToObjects="1">
      <p:cViewPr>
        <p:scale>
          <a:sx n="89" d="100"/>
          <a:sy n="89" d="100"/>
        </p:scale>
        <p:origin x="51" y="4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6B0F1A"/>
                </a:solidFill>
                <a:latin typeface="+mn-lt"/>
              </a:defRPr>
            </a:pPr>
            <a:r>
              <a:rPr lang="en-GB" sz="1400" b="0" i="0" u="none" strike="noStrike">
                <a:solidFill>
                  <a:srgbClr val="6B0F1A"/>
                </a:solidFill>
                <a:latin typeface="+mn-lt"/>
              </a:rPr>
              <a:t>Foreground p99 (ms) per run, 100 reads each</a:t>
            </a:r>
          </a:p>
        </c:rich>
      </c:tx>
      <c:overlay val="0"/>
    </c:title>
    <c:autoTitleDeleted val="0"/>
    <c:plotArea>
      <c:layout/>
      <c:barChart>
        <c:barDir val="col"/>
        <c:grouping val="clustered"/>
        <c:varyColors val="0"/>
        <c:ser>
          <c:idx val="0"/>
          <c:order val="0"/>
          <c:tx>
            <c:strRef>
              <c:f>Sheet1!$B$1</c:f>
              <c:strCache>
                <c:ptCount val="1"/>
                <c:pt idx="0">
                  <c:v>Repetition 1</c:v>
                </c:pt>
              </c:strCache>
            </c:strRef>
          </c:tx>
          <c:spPr>
            <a:solidFill>
              <a:srgbClr val="6B0F1A"/>
            </a:solidFill>
            <a:effectLst/>
          </c:spPr>
          <c:invertIfNegative val="0"/>
          <c:dLbls>
            <c:numFmt formatCode="0.00" sourceLinked="0"/>
            <c:spPr>
              <a:noFill/>
              <a:ln>
                <a:noFill/>
              </a:ln>
              <a:effectLst/>
            </c:spPr>
            <c:txPr>
              <a:bodyPr/>
              <a:lstStyle/>
              <a:p>
                <a:pPr>
                  <a:defRPr sz="900" b="0" i="0" u="none" strike="noStrike">
                    <a:solidFill>
                      <a:srgbClr val="4A556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FG alone</c:v>
                </c:pt>
                <c:pt idx="1">
                  <c:v>Mixed q=1</c:v>
                </c:pt>
                <c:pt idx="2">
                  <c:v>Mixed q=2</c:v>
                </c:pt>
                <c:pt idx="3">
                  <c:v>Mixed q=4</c:v>
                </c:pt>
                <c:pt idx="4">
                  <c:v>Mixed q=8</c:v>
                </c:pt>
              </c:strCache>
            </c:strRef>
          </c:cat>
          <c:val>
            <c:numRef>
              <c:f>Sheet1!$B$2:$B$6</c:f>
              <c:numCache>
                <c:formatCode>General</c:formatCode>
                <c:ptCount val="5"/>
                <c:pt idx="0">
                  <c:v>0.78</c:v>
                </c:pt>
                <c:pt idx="1">
                  <c:v>0.497</c:v>
                </c:pt>
                <c:pt idx="2">
                  <c:v>0.44600000000000001</c:v>
                </c:pt>
                <c:pt idx="3">
                  <c:v>1.4490000000000001</c:v>
                </c:pt>
                <c:pt idx="4">
                  <c:v>0.98799999999999999</c:v>
                </c:pt>
              </c:numCache>
            </c:numRef>
          </c:val>
          <c:extLst>
            <c:ext xmlns:c16="http://schemas.microsoft.com/office/drawing/2014/chart" uri="{C3380CC4-5D6E-409C-BE32-E72D297353CC}">
              <c16:uniqueId val="{00000000-3BD8-584B-80D0-0F3A3231B078}"/>
            </c:ext>
          </c:extLst>
        </c:ser>
        <c:ser>
          <c:idx val="1"/>
          <c:order val="1"/>
          <c:tx>
            <c:strRef>
              <c:f>Sheet1!$C$1</c:f>
              <c:strCache>
                <c:ptCount val="1"/>
                <c:pt idx="0">
                  <c:v>Repetition 2</c:v>
                </c:pt>
              </c:strCache>
            </c:strRef>
          </c:tx>
          <c:spPr>
            <a:solidFill>
              <a:srgbClr val="C1121F"/>
            </a:solidFill>
            <a:effectLst/>
          </c:spPr>
          <c:invertIfNegative val="0"/>
          <c:dLbls>
            <c:numFmt formatCode="0.00" sourceLinked="0"/>
            <c:spPr>
              <a:noFill/>
              <a:ln>
                <a:noFill/>
              </a:ln>
              <a:effectLst/>
            </c:spPr>
            <c:txPr>
              <a:bodyPr/>
              <a:lstStyle/>
              <a:p>
                <a:pPr>
                  <a:defRPr sz="900" b="0" i="0" u="none" strike="noStrike">
                    <a:solidFill>
                      <a:srgbClr val="4A556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FG alone</c:v>
                </c:pt>
                <c:pt idx="1">
                  <c:v>Mixed q=1</c:v>
                </c:pt>
                <c:pt idx="2">
                  <c:v>Mixed q=2</c:v>
                </c:pt>
                <c:pt idx="3">
                  <c:v>Mixed q=4</c:v>
                </c:pt>
                <c:pt idx="4">
                  <c:v>Mixed q=8</c:v>
                </c:pt>
              </c:strCache>
            </c:strRef>
          </c:cat>
          <c:val>
            <c:numRef>
              <c:f>Sheet1!$C$2:$C$6</c:f>
              <c:numCache>
                <c:formatCode>General</c:formatCode>
                <c:ptCount val="5"/>
                <c:pt idx="0">
                  <c:v>0.53400000000000003</c:v>
                </c:pt>
                <c:pt idx="1">
                  <c:v>0.78500000000000003</c:v>
                </c:pt>
                <c:pt idx="2">
                  <c:v>0.8</c:v>
                </c:pt>
                <c:pt idx="3">
                  <c:v>0.54500000000000004</c:v>
                </c:pt>
                <c:pt idx="4">
                  <c:v>0.49199999999999999</c:v>
                </c:pt>
              </c:numCache>
            </c:numRef>
          </c:val>
          <c:extLst>
            <c:ext xmlns:c16="http://schemas.microsoft.com/office/drawing/2014/chart" uri="{C3380CC4-5D6E-409C-BE32-E72D297353CC}">
              <c16:uniqueId val="{00000001-3BD8-584B-80D0-0F3A3231B078}"/>
            </c:ext>
          </c:extLst>
        </c:ser>
        <c:ser>
          <c:idx val="2"/>
          <c:order val="2"/>
          <c:tx>
            <c:strRef>
              <c:f>Sheet1!$D$1</c:f>
              <c:strCache>
                <c:ptCount val="1"/>
                <c:pt idx="0">
                  <c:v>Repetition 3</c:v>
                </c:pt>
              </c:strCache>
            </c:strRef>
          </c:tx>
          <c:spPr>
            <a:solidFill>
              <a:srgbClr val="F2A3AC"/>
            </a:solidFill>
            <a:effectLst/>
          </c:spPr>
          <c:invertIfNegative val="0"/>
          <c:dLbls>
            <c:numFmt formatCode="0.00" sourceLinked="0"/>
            <c:spPr>
              <a:noFill/>
              <a:ln>
                <a:noFill/>
              </a:ln>
              <a:effectLst/>
            </c:spPr>
            <c:txPr>
              <a:bodyPr/>
              <a:lstStyle/>
              <a:p>
                <a:pPr>
                  <a:defRPr sz="900" b="0" i="0" u="none" strike="noStrike">
                    <a:solidFill>
                      <a:srgbClr val="4A556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FG alone</c:v>
                </c:pt>
                <c:pt idx="1">
                  <c:v>Mixed q=1</c:v>
                </c:pt>
                <c:pt idx="2">
                  <c:v>Mixed q=2</c:v>
                </c:pt>
                <c:pt idx="3">
                  <c:v>Mixed q=4</c:v>
                </c:pt>
                <c:pt idx="4">
                  <c:v>Mixed q=8</c:v>
                </c:pt>
              </c:strCache>
            </c:strRef>
          </c:cat>
          <c:val>
            <c:numRef>
              <c:f>Sheet1!$D$2:$D$6</c:f>
              <c:numCache>
                <c:formatCode>General</c:formatCode>
                <c:ptCount val="5"/>
                <c:pt idx="0">
                  <c:v>0.80200000000000005</c:v>
                </c:pt>
                <c:pt idx="1">
                  <c:v>0.67400000000000004</c:v>
                </c:pt>
                <c:pt idx="2">
                  <c:v>1.0169999999999999</c:v>
                </c:pt>
                <c:pt idx="3">
                  <c:v>0.504</c:v>
                </c:pt>
                <c:pt idx="4">
                  <c:v>1.2370000000000001</c:v>
                </c:pt>
              </c:numCache>
            </c:numRef>
          </c:val>
          <c:extLst>
            <c:ext xmlns:c16="http://schemas.microsoft.com/office/drawing/2014/chart" uri="{C3380CC4-5D6E-409C-BE32-E72D297353CC}">
              <c16:uniqueId val="{00000002-3BD8-584B-80D0-0F3A3231B07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ax val="1.6"/>
          <c:min val="0"/>
        </c:scaling>
        <c:delete val="0"/>
        <c:axPos val="l"/>
        <c:majorGridlines>
          <c:spPr>
            <a:ln w="6350" cap="flat">
              <a:solidFill>
                <a:srgbClr val="E3E6E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4"/>
        <c:crosses val="autoZero"/>
        <c:crossBetween val="between"/>
        <c:majorUnit val="0.4"/>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0015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Mostafa Babaei. I will present my part of our first milestone for the storage systems project.</a:t>
            </a:r>
          </a:p>
          <a:p>
            <a:r>
              <a:rPr lang="en-US" dirty="0"/>
              <a:t>My work focused on checking the programming tools, running and verifying asynchronous reads, and reviewing the dispatcher design. I will also show a small foreground and background test that I completed as extra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connected to Babbage and checked the tools we need. GCC, Make, and Python were available. The main issue was that the compiler could not find the liburing development files.</a:t>
            </a:r>
          </a:p>
          <a:p>
            <a:r>
              <a:rPr lang="en-US" dirty="0"/>
              <a:t>I built liburing version 2.5 and installed it in my own account, without sudo. I also fixed a compiler flag that was causing errors in the library headers. After that, the C read test compiled successfully.</a:t>
            </a:r>
          </a:p>
          <a:p>
            <a:r>
              <a:rPr lang="en-US" dirty="0"/>
              <a:t>This gave us a working environment for testing the read operations.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test was a small C program using io_uring. The program opens a known test file for direct reads and uses an aligned memory buffer.</a:t>
            </a:r>
          </a:p>
          <a:p>
            <a:r>
              <a:rPr lang="en-US" dirty="0"/>
              <a:t>Each read has a request ID. When the read finishes, the program checks the ID, the number of bytes returned, and every byte of the data. The expected contents come from a known pattern.</a:t>
            </a:r>
          </a:p>
          <a:p>
            <a:r>
              <a:rPr lang="en-US" dirty="0"/>
              <a:t>This output shows a successful 256-KiB read. The program keeps one read outstanding at a time. The purpose was to confirm that the read and verification steps work correctly.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twelve unit tests and all fifteen smoke-suite checks passed.</a:t>
            </a:r>
          </a:p>
          <a:p>
            <a:r>
              <a:rPr lang="en-US" dirty="0"/>
              <a:t>The unit tests checked the pattern generator and the test-runner logic. The smoke suite checked compilation, reads at different offsets and sizes, repeated reads, and whether the original file stayed unchanged.</a:t>
            </a:r>
          </a:p>
          <a:p>
            <a:r>
              <a:rPr lang="en-US" dirty="0"/>
              <a:t>Some tests deliberately used invalid inputs, an empty file, or corrupted data. For those cases, passing means that the program detected the expected problem. It does not mean that an incorrect read was accepted.</a:t>
            </a:r>
          </a:p>
          <a:p>
            <a:r>
              <a:rPr lang="en-US" dirty="0"/>
              <a:t>I saved the summaries and individual logs as evidence.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Queue depth means how many reads have been submitted but have not yet completed. A depth of one allows one outstanding read. A depth of eight allows up to eight.</a:t>
            </a:r>
          </a:p>
          <a:p>
            <a:r>
              <a:rPr lang="en-US" dirty="0"/>
              <a:t>The purpose of a multiple-read check is to make sure the program can track the requests and verify the returned data while more than one read is active.</a:t>
            </a:r>
          </a:p>
          <a:p>
            <a:r>
              <a:rPr lang="en-US" dirty="0"/>
              <a:t>The measurements shown here should be treated as early checks. Our main project comparison will study foreground response time and background progress together.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contacted Brian Hays from the university's IT support team to arrange a physical HDD for our project.</a:t>
            </a:r>
          </a:p>
          <a:p>
            <a:r>
              <a:rPr lang="en-US" dirty="0"/>
              <a:t>He confirmed that a five-hundred-gigabyte hard drive has been installed in a university computer. This gives us a physical HDD for the next stage of testing.</a:t>
            </a:r>
          </a:p>
          <a:p>
            <a:r>
              <a:rPr lang="en-US" dirty="0"/>
              <a:t>Our next step is to check access, set up the software, and run the foreground and background experiments.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dispatcher, I reviewed a design with two pending queues. One holds the small foreground reads, and the other holds the sequential background reads. Both queues feed the same io_uring backend.</a:t>
            </a:r>
          </a:p>
          <a:p>
            <a:r>
              <a:rPr lang="en-US" dirty="0"/>
              <a:t>The dispatcher will use a fixed foreground limit and a background limit called q. It will keep request IDs, timestamps, and a separate buffer for each outstanding read.</a:t>
            </a:r>
          </a:p>
          <a:p>
            <a:r>
              <a:rPr lang="en-US" dirty="0"/>
              <a:t>When a read completes, the dispatcher will match its ID, check the result, and verify the data before reusing the buffer.</a:t>
            </a:r>
          </a:p>
          <a:p>
            <a:r>
              <a:rPr lang="en-US" dirty="0"/>
              <a:t>If q decreases, reads already submitted will continue. New background reads will wait until the outstanding count is below the new limit. This is the reviewed design for the full C dispatcher, which we will implement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extra work, I ran a separate Python pilot using worker threads and direct reads. This is different from the C io_uring program.</a:t>
            </a:r>
          </a:p>
          <a:p>
            <a:r>
              <a:rPr lang="en-US" dirty="0"/>
              <a:t>I tested foreground reads alone, background reads alone, and both together at four background depths. I repeated the six conditions three times, giving eighteen cases. All cases finished without reported errors or foreground rejections.</a:t>
            </a:r>
          </a:p>
          <a:p>
            <a:r>
              <a:rPr lang="en-US" dirty="0"/>
              <a:t>The graph shows the p99 from each repetition separately. There was no consistent winner across the depths. Background throughput stayed close to the configured rate limit.</a:t>
            </a:r>
          </a:p>
          <a:p>
            <a:r>
              <a:rPr lang="en-US" dirty="0"/>
              <a:t>Because the file was small and the runs were short, these are preliminary observations. They helped check the concurrent workload logic, but they do not identify the best queue depth.</a:t>
            </a:r>
          </a:p>
          <a:p>
            <a:r>
              <a:rPr lang="en-US" dirty="0"/>
              <a:t>That completes my part. The next step is to build the full dispatcher and connect it to the controller and workload generator.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03120"/>
            <a:ext cx="1051560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3977640"/>
            <a:ext cx="10515600" cy="640080"/>
          </a:xfrm>
          <a:prstGeom prst="rect">
            <a:avLst/>
          </a:prstGeom>
          <a:noFill/>
          <a:ln/>
        </p:spPr>
        <p:txBody>
          <a:bodyPr wrap="square" rtlCol="0"/>
          <a:lstStyle>
            <a:lvl1pPr marL="0" indent="0">
              <a:buNone/>
              <a:defRPr lang="en-US" sz="2200" dirty="0">
                <a:solidFill>
                  <a:schemeClr val="accent5"/>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4415"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6"/>
                </a:solidFill>
              </a:rPr>
              <a:t>CSC 720 Project 03 · Milestone 1</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4415"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548640"/>
            <a:ext cx="10058400" cy="320040"/>
          </a:xfrm>
          <a:prstGeom prst="rect">
            <a:avLst/>
          </a:prstGeom>
          <a:noFill/>
          <a:ln/>
        </p:spPr>
        <p:txBody>
          <a:bodyPr wrap="square" lIns="0" tIns="0" rIns="0" bIns="0" rtlCol="0" anchor="ctr"/>
          <a:lstStyle/>
          <a:p>
            <a:pPr marL="0" indent="0">
              <a:buNone/>
            </a:pPr>
            <a:r>
              <a:rPr lang="en-US" sz="1400" b="1" kern="0" spc="300" dirty="0">
                <a:solidFill>
                  <a:schemeClr val="accent1"/>
                </a:solidFill>
              </a:rPr>
              <a:t>CSC 720 STORAGE SYSTEMS · PROJECT 03 · MILESTONE 1</a:t>
            </a:r>
            <a:endParaRPr lang="en-US" sz="1400" dirty="0"/>
          </a:p>
        </p:txBody>
      </p:sp>
      <p:sp>
        <p:nvSpPr>
          <p:cNvPr id="3" name="Text 0"/>
          <p:cNvSpPr>
            <a:spLocks noGrp="1"/>
          </p:cNvSpPr>
          <p:nvPr>
            <p:ph type="title" idx="100" hasCustomPrompt="1"/>
          </p:nvPr>
        </p:nvSpPr>
        <p:spPr>
          <a:xfrm>
            <a:off x="548640" y="2103120"/>
            <a:ext cx="10515600" cy="1737360"/>
          </a:xfrm>
          <a:prstGeom prst="rect">
            <a:avLst/>
          </a:prstGeom>
          <a:noFill/>
          <a:ln/>
        </p:spPr>
        <p:txBody>
          <a:bodyPr wrap="square" lIns="0" tIns="0" rIns="0" bIns="0" rtlCol="0" anchor="b"/>
          <a:lstStyle/>
          <a:p>
            <a:pPr marL="0" indent="0" algn="l">
              <a:buNone/>
            </a:pPr>
            <a:r>
              <a:rPr lang="en-US" sz="4400" b="1" dirty="0">
                <a:solidFill>
                  <a:schemeClr val="bg1"/>
                </a:solidFill>
              </a:rPr>
              <a:t>Adaptive Background Queue Depth for HDDs</a:t>
            </a:r>
            <a:endParaRPr lang="en-US" sz="4400" dirty="0"/>
          </a:p>
        </p:txBody>
      </p:sp>
      <p:sp>
        <p:nvSpPr>
          <p:cNvPr id="4" name="Text 0"/>
          <p:cNvSpPr>
            <a:spLocks noGrp="1"/>
          </p:cNvSpPr>
          <p:nvPr>
            <p:ph type="body" idx="101" hasCustomPrompt="1"/>
          </p:nvPr>
        </p:nvSpPr>
        <p:spPr>
          <a:xfrm>
            <a:off x="548640" y="3977640"/>
            <a:ext cx="10515600" cy="640080"/>
          </a:xfrm>
          <a:prstGeom prst="rect">
            <a:avLst/>
          </a:prstGeom>
          <a:noFill/>
          <a:ln/>
        </p:spPr>
        <p:txBody>
          <a:bodyPr wrap="square" lIns="0" tIns="0" rIns="0" bIns="0" rtlCol="0"/>
          <a:lstStyle/>
          <a:p>
            <a:pPr marL="0" indent="0">
              <a:buNone/>
            </a:pPr>
            <a:r>
              <a:rPr lang="en-US" sz="2200" dirty="0">
                <a:solidFill>
                  <a:schemeClr val="accent5"/>
                </a:solidFill>
              </a:rPr>
              <a:t>Mostafa Babaei · Tasks 4–6: tools, smoke test, dispatcher design</a:t>
            </a:r>
            <a:endParaRPr lang="en-US" sz="2200" dirty="0"/>
          </a:p>
        </p:txBody>
      </p:sp>
      <p:sp>
        <p:nvSpPr>
          <p:cNvPr id="5" name="Text 3"/>
          <p:cNvSpPr txBox="1"/>
          <p:nvPr/>
        </p:nvSpPr>
        <p:spPr>
          <a:xfrm>
            <a:off x="548640" y="5760720"/>
            <a:ext cx="8229600" cy="365760"/>
          </a:xfrm>
          <a:prstGeom prst="rect">
            <a:avLst/>
          </a:prstGeom>
          <a:noFill/>
          <a:ln/>
        </p:spPr>
        <p:txBody>
          <a:bodyPr wrap="square" lIns="0" tIns="0" rIns="0" bIns="0" rtlCol="0" anchor="ctr"/>
          <a:lstStyle/>
          <a:p>
            <a:pPr marL="0" indent="0">
              <a:buNone/>
            </a:pPr>
            <a:r>
              <a:rPr lang="en-US" sz="1800" dirty="0">
                <a:solidFill>
                  <a:schemeClr val="bg1"/>
                </a:solidFill>
              </a:rPr>
              <a:t>Mostafa Babaei · Muhammad Ahmad Tariq · Sheryar Karim</a:t>
            </a:r>
            <a:endParaRPr lang="en-US" sz="1800" dirty="0"/>
          </a:p>
        </p:txBody>
      </p:sp>
      <p:sp>
        <p:nvSpPr>
          <p:cNvPr id="6" name="Text 4"/>
          <p:cNvSpPr txBox="1"/>
          <p:nvPr/>
        </p:nvSpPr>
        <p:spPr>
          <a:xfrm>
            <a:off x="7985455" y="5760720"/>
            <a:ext cx="3657600" cy="365760"/>
          </a:xfrm>
          <a:prstGeom prst="rect">
            <a:avLst/>
          </a:prstGeom>
          <a:noFill/>
          <a:ln/>
        </p:spPr>
        <p:txBody>
          <a:bodyPr wrap="square" lIns="0" tIns="0" rIns="0" bIns="0" rtlCol="0" anchor="ctr"/>
          <a:lstStyle/>
          <a:p>
            <a:pPr marL="0" indent="0" algn="r">
              <a:buNone/>
            </a:pPr>
            <a:r>
              <a:rPr lang="en-US" sz="1600" dirty="0">
                <a:solidFill>
                  <a:schemeClr val="accent5"/>
                </a:solidFill>
              </a:rPr>
              <a:t>Due October 20, 2026</a:t>
            </a:r>
            <a:endParaRPr lang="en-US" sz="1600" dirty="0"/>
          </a:p>
        </p:txBody>
      </p:sp>
      <p:pic>
        <p:nvPicPr>
          <p:cNvPr id="7" name="Missouri State logo" descr="logo_white.png"/>
          <p:cNvPicPr>
            <a:picLocks noChangeAspect="1"/>
          </p:cNvPicPr>
          <p:nvPr/>
        </p:nvPicPr>
        <p:blipFill>
          <a:blip r:embed="rId3"/>
          <a:stretch>
            <a:fillRect/>
          </a:stretch>
        </p:blipFill>
        <p:spPr>
          <a:xfrm>
            <a:off x="9814560" y="201168"/>
            <a:ext cx="1828800" cy="3636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47472"/>
            <a:ext cx="9144000" cy="27432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200" b="1" dirty="0">
                <a:solidFill>
                  <a:schemeClr val="tx1"/>
                </a:solidFill>
              </a:rPr>
              <a:t>Every tool is now available, without sudo</a:t>
            </a:r>
            <a:endParaRPr lang="en-US" sz="3200" dirty="0"/>
          </a:p>
        </p:txBody>
      </p:sp>
      <p:graphicFrame>
        <p:nvGraphicFramePr>
          <p:cNvPr id="4" name="Toolchain"/>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3352800"/>
        </p:xfrm>
        <a:graphic>
          <a:graphicData uri="http://schemas.openxmlformats.org/drawingml/2006/table">
            <a:tbl>
              <a:tblPr/>
              <a:tblGrid>
                <a:gridCol w="2743200">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75488">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Tool</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On babbage</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Fix</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7548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gcc · make</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13.3 · 4.3, OK</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None needed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548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Kernel io_uring</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6.8.0-106, enabled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None needed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7548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liburing</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Missing</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Built liburing 2.5 in a user folder; removed -Wpedantic, kept -Wall -Wextra -Werror</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548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libaio (fallback)</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Absent</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Not needed: io_uring works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7548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Python 3.12</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OK</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None needed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7548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numpy · pandas · matplotlib</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Missing; no pip or venv</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Made ~/venv with --without-pip, installed pip, then the libraries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852160"/>
            <a:ext cx="10972800" cy="274320"/>
          </a:xfrm>
          <a:prstGeom prst="rect">
            <a:avLst/>
          </a:prstGeom>
          <a:noFill/>
          <a:ln/>
        </p:spPr>
        <p:txBody>
          <a:bodyPr wrap="square" lIns="0" tIns="0" rIns="0" bIns="0" rtlCol="0" anchor="ctr"/>
          <a:lstStyle/>
          <a:p>
            <a:pPr marL="0" indent="0">
              <a:buNone/>
            </a:pPr>
            <a:r>
              <a:rPr lang="en-US" sz="1100" dirty="0">
                <a:solidFill>
                  <a:schemeClr val="accent6"/>
                </a:solidFill>
              </a:rPr>
              <a:t>Nothing needed the administrator. Source: results/tools_check.md and REPRODUCTION_NOTES.md</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pic>
        <p:nvPicPr>
          <p:cNvPr id="26" name="Missouri State logo" descr="logo.png"/>
          <p:cNvPicPr>
            <a:picLocks noChangeAspect="1"/>
          </p:cNvPicPr>
          <p:nvPr/>
        </p:nvPicPr>
        <p:blipFill>
          <a:blip r:embed="rId3"/>
          <a:stretch>
            <a:fillRect/>
          </a:stretch>
        </p:blipFill>
        <p:spPr>
          <a:xfrm>
            <a:off x="9814560" y="201168"/>
            <a:ext cx="1828800" cy="363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47472"/>
            <a:ext cx="9144000" cy="27432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200" b="1" dirty="0">
                <a:solidFill>
                  <a:schemeClr val="tx1"/>
                </a:solidFill>
              </a:rPr>
              <a:t>C/io_uring read test with byte checks</a:t>
            </a:r>
            <a:endParaRPr lang="en-US" sz="3200" dirty="0"/>
          </a:p>
        </p:txBody>
      </p:sp>
      <p:sp>
        <p:nvSpPr>
          <p:cNvPr id="4" name="Text 2"/>
          <p:cNvSpPr txBox="1"/>
          <p:nvPr/>
        </p:nvSpPr>
        <p:spPr>
          <a:xfrm>
            <a:off x="548640" y="1600200"/>
            <a:ext cx="5486400" cy="40233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Program smoke_read.c, built with strict warnings against liburing 2.5</a:t>
            </a:r>
            <a:endParaRPr lang="en-US" sz="1600" dirty="0"/>
          </a:p>
          <a:p>
            <a:pPr marL="342900" indent="-342900">
              <a:spcAft>
                <a:spcPts val="1000"/>
              </a:spcAft>
              <a:buSzPct val="100000"/>
              <a:buChar char="•"/>
            </a:pPr>
            <a:r>
              <a:rPr lang="en-US" sz="1600" dirty="0">
                <a:solidFill>
                  <a:schemeClr val="tx1"/>
                </a:solidFill>
              </a:rPr>
              <a:t>Reads with O_DIRECT and aligned buffers through io_uring</a:t>
            </a:r>
            <a:endParaRPr lang="en-US" sz="1600" dirty="0"/>
          </a:p>
          <a:p>
            <a:pPr marL="342900" indent="-342900">
              <a:spcAft>
                <a:spcPts val="1000"/>
              </a:spcAft>
              <a:buSzPct val="100000"/>
              <a:buChar char="•"/>
            </a:pPr>
            <a:r>
              <a:rPr lang="en-US" sz="1600" dirty="0">
                <a:solidFill>
                  <a:schemeClr val="tx1"/>
                </a:solidFill>
              </a:rPr>
              <a:t>Each read has a request ID; every returned byte is checked against a known pattern</a:t>
            </a:r>
            <a:endParaRPr lang="en-US" sz="1600" dirty="0"/>
          </a:p>
          <a:p>
            <a:pPr marL="342900" indent="-342900">
              <a:spcAft>
                <a:spcPts val="1000"/>
              </a:spcAft>
              <a:buSzPct val="100000"/>
              <a:buChar char="•"/>
            </a:pPr>
            <a:r>
              <a:rPr lang="en-US" sz="1600" dirty="0">
                <a:solidFill>
                  <a:schemeClr val="tx1"/>
                </a:solidFill>
              </a:rPr>
              <a:t>One read in flight at a time: a correctness test, not a concurrency test</a:t>
            </a:r>
            <a:endParaRPr lang="en-US" sz="1600" dirty="0"/>
          </a:p>
        </p:txBody>
      </p:sp>
      <p:sp>
        <p:nvSpPr>
          <p:cNvPr id="5" name="Terminal output"/>
          <p:cNvSpPr/>
          <p:nvPr/>
        </p:nvSpPr>
        <p:spPr>
          <a:xfrm>
            <a:off x="6400800" y="1600200"/>
            <a:ext cx="5239512" cy="3246120"/>
          </a:xfrm>
          <a:prstGeom prst="roundRect">
            <a:avLst>
              <a:gd name="adj" fmla="val 3380"/>
            </a:avLst>
          </a:prstGeom>
          <a:solidFill>
            <a:schemeClr val="tx1"/>
          </a:solidFill>
          <a:ln w="12700">
            <a:solidFill>
              <a:schemeClr val="tx1"/>
            </a:solidFill>
            <a:prstDash val="solid"/>
          </a:ln>
        </p:spPr>
        <p:txBody>
          <a:bodyPr/>
          <a:lstStyle/>
          <a:p>
            <a:endParaRPr lang="en-US"/>
          </a:p>
        </p:txBody>
      </p:sp>
      <p:sp>
        <p:nvSpPr>
          <p:cNvPr id="6" name="Text 4"/>
          <p:cNvSpPr txBox="1"/>
          <p:nvPr/>
        </p:nvSpPr>
        <p:spPr>
          <a:xfrm>
            <a:off x="6629400" y="1783080"/>
            <a:ext cx="4754880" cy="320040"/>
          </a:xfrm>
          <a:prstGeom prst="rect">
            <a:avLst/>
          </a:prstGeom>
          <a:noFill/>
          <a:ln/>
        </p:spPr>
        <p:txBody>
          <a:bodyPr wrap="square" lIns="0" tIns="0" rIns="0" bIns="0" rtlCol="0" anchor="ctr"/>
          <a:lstStyle/>
          <a:p>
            <a:pPr marL="0" indent="0">
              <a:buNone/>
            </a:pPr>
            <a:r>
              <a:rPr lang="en-US" sz="1400" b="1" dirty="0">
                <a:solidFill>
                  <a:schemeClr val="accent1"/>
                </a:solidFill>
              </a:rPr>
              <a:t>Recorded output: read_256k</a:t>
            </a:r>
            <a:endParaRPr lang="en-US" sz="1400" dirty="0"/>
          </a:p>
        </p:txBody>
      </p:sp>
      <p:sp>
        <p:nvSpPr>
          <p:cNvPr id="7" name="Text 5"/>
          <p:cNvSpPr txBox="1"/>
          <p:nvPr/>
        </p:nvSpPr>
        <p:spPr>
          <a:xfrm>
            <a:off x="6629400" y="2194560"/>
            <a:ext cx="4754880" cy="2514600"/>
          </a:xfrm>
          <a:prstGeom prst="rect">
            <a:avLst/>
          </a:prstGeom>
          <a:noFill/>
          <a:ln/>
        </p:spPr>
        <p:txBody>
          <a:bodyPr wrap="square" lIns="0" tIns="0" rIns="0" bIns="0" rtlCol="0" anchor="t"/>
          <a:lstStyle/>
          <a:p>
            <a:pPr marL="0" indent="0">
              <a:buNone/>
            </a:pPr>
            <a:r>
              <a:rPr lang="en-US" sz="1300" dirty="0">
                <a:solidFill>
                  <a:schemeClr val="bg1"/>
                </a:solidFill>
                <a:latin typeface="Courier New" pitchFamily="34" charset="0"/>
                <a:ea typeface="Courier New" pitchFamily="34" charset="-122"/>
                <a:cs typeface="Courier New" pitchFamily="34" charset="-120"/>
              </a:rPr>
              <a:t>backend=io_uring</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direct_io=requested_with_O_DIRECT</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file_size=4194304</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request_id,offset,bytes,...,verified</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1,3145728,262144,...,yes</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PASS: 1 reads completed and verified.</a:t>
            </a:r>
            <a:endParaRPr lang="en-US" sz="1300" dirty="0"/>
          </a:p>
          <a:p>
            <a:pPr marL="0" indent="0">
              <a:buNone/>
            </a:pPr>
            <a:r>
              <a:rPr lang="en-US" sz="1300" dirty="0">
                <a:solidFill>
                  <a:schemeClr val="bg1"/>
                </a:solidFill>
                <a:latin typeface="Courier New" pitchFamily="34" charset="0"/>
                <a:ea typeface="Courier New" pitchFamily="34" charset="-122"/>
                <a:cs typeface="Courier New" pitchFamily="34" charset="-120"/>
              </a:rPr>
              <a:t>No performance conclusion.</a:t>
            </a:r>
            <a:endParaRPr lang="en-US" sz="1300" dirty="0"/>
          </a:p>
        </p:txBody>
      </p:sp>
      <p:sp>
        <p:nvSpPr>
          <p:cNvPr id="8" name="Text 6"/>
          <p:cNvSpPr txBox="1"/>
          <p:nvPr/>
        </p:nvSpPr>
        <p:spPr>
          <a:xfrm>
            <a:off x="548640" y="5852160"/>
            <a:ext cx="10972800" cy="274320"/>
          </a:xfrm>
          <a:prstGeom prst="rect">
            <a:avLst/>
          </a:prstGeom>
          <a:noFill/>
          <a:ln/>
        </p:spPr>
        <p:txBody>
          <a:bodyPr wrap="square" lIns="0" tIns="0" rIns="0" bIns="0" rtlCol="0" anchor="ctr"/>
          <a:lstStyle/>
          <a:p>
            <a:pPr marL="0" indent="0">
              <a:buNone/>
            </a:pPr>
            <a:r>
              <a:rPr lang="en-US" sz="1100" dirty="0">
                <a:solidFill>
                  <a:schemeClr val="accent6"/>
                </a:solidFill>
              </a:rPr>
              <a:t>Evidence: evidence/smoke_suite_u8pyzzi_/read_256k.log and REPRODUCTION_NOTES.md, Oct 18, 2026</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pic>
        <p:nvPicPr>
          <p:cNvPr id="26" name="Missouri State logo" descr="logo.png"/>
          <p:cNvPicPr>
            <a:picLocks noChangeAspect="1"/>
          </p:cNvPicPr>
          <p:nvPr/>
        </p:nvPicPr>
        <p:blipFill>
          <a:blip r:embed="rId3"/>
          <a:stretch>
            <a:fillRect/>
          </a:stretch>
        </p:blipFill>
        <p:spPr>
          <a:xfrm>
            <a:off x="9814560" y="201168"/>
            <a:ext cx="1828800" cy="363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47472"/>
            <a:ext cx="9144000" cy="27432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200" b="1" dirty="0">
                <a:solidFill>
                  <a:schemeClr val="tx1"/>
                </a:solidFill>
              </a:rPr>
              <a:t>Every correctness check passed</a:t>
            </a:r>
            <a:endParaRPr lang="en-US" sz="3200" dirty="0"/>
          </a:p>
        </p:txBody>
      </p:sp>
      <p:sp>
        <p:nvSpPr>
          <p:cNvPr id="4" name="Stat unit tests passed"/>
          <p:cNvSpPr/>
          <p:nvPr/>
        </p:nvSpPr>
        <p:spPr>
          <a:xfrm>
            <a:off x="548640" y="1600200"/>
            <a:ext cx="3566160" cy="1828800"/>
          </a:xfrm>
          <a:prstGeom prst="roundRect">
            <a:avLst>
              <a:gd name="adj" fmla="val 6000"/>
            </a:avLst>
          </a:prstGeom>
          <a:solidFill>
            <a:schemeClr val="bg2"/>
          </a:solidFill>
          <a:ln w="9525">
            <a:solidFill>
              <a:srgbClr val="EBD5D7"/>
            </a:solidFill>
            <a:prstDash val="solid"/>
          </a:ln>
        </p:spPr>
        <p:txBody>
          <a:bodyPr/>
          <a:lstStyle/>
          <a:p>
            <a:endParaRPr lang="en-US"/>
          </a:p>
        </p:txBody>
      </p:sp>
      <p:sp>
        <p:nvSpPr>
          <p:cNvPr id="5" name="Text 3"/>
          <p:cNvSpPr txBox="1"/>
          <p:nvPr/>
        </p:nvSpPr>
        <p:spPr>
          <a:xfrm>
            <a:off x="777240" y="1737360"/>
            <a:ext cx="3108960" cy="777240"/>
          </a:xfrm>
          <a:prstGeom prst="rect">
            <a:avLst/>
          </a:prstGeom>
          <a:noFill/>
          <a:ln/>
        </p:spPr>
        <p:txBody>
          <a:bodyPr wrap="square" lIns="0" tIns="0" rIns="0" bIns="0" rtlCol="0" anchor="ctr"/>
          <a:lstStyle/>
          <a:p>
            <a:pPr marL="0" indent="0">
              <a:buNone/>
            </a:pPr>
            <a:r>
              <a:rPr lang="en-US" sz="4400" b="1" dirty="0">
                <a:solidFill>
                  <a:schemeClr val="accent4"/>
                </a:solidFill>
                <a:latin typeface="Cambria" pitchFamily="34" charset="0"/>
                <a:ea typeface="Cambria" pitchFamily="34" charset="-122"/>
                <a:cs typeface="Cambria" pitchFamily="34" charset="-120"/>
              </a:rPr>
              <a:t>12 / 12</a:t>
            </a:r>
            <a:endParaRPr lang="en-US" sz="4400" dirty="0"/>
          </a:p>
        </p:txBody>
      </p:sp>
      <p:sp>
        <p:nvSpPr>
          <p:cNvPr id="6" name="Text 4"/>
          <p:cNvSpPr txBox="1"/>
          <p:nvPr/>
        </p:nvSpPr>
        <p:spPr>
          <a:xfrm>
            <a:off x="777240" y="2514600"/>
            <a:ext cx="3108960" cy="365760"/>
          </a:xfrm>
          <a:prstGeom prst="rect">
            <a:avLst/>
          </a:prstGeom>
          <a:noFill/>
          <a:ln/>
        </p:spPr>
        <p:txBody>
          <a:bodyPr wrap="square" lIns="0" tIns="0" rIns="0" bIns="0" rtlCol="0" anchor="ctr"/>
          <a:lstStyle/>
          <a:p>
            <a:pPr marL="0" indent="0">
              <a:buNone/>
            </a:pPr>
            <a:r>
              <a:rPr lang="en-US" sz="1600" b="1" dirty="0">
                <a:solidFill>
                  <a:schemeClr val="tx1"/>
                </a:solidFill>
              </a:rPr>
              <a:t>unit tests passed</a:t>
            </a:r>
            <a:endParaRPr lang="en-US" sz="1600" dirty="0"/>
          </a:p>
        </p:txBody>
      </p:sp>
      <p:sp>
        <p:nvSpPr>
          <p:cNvPr id="7" name="Text 5"/>
          <p:cNvSpPr txBox="1"/>
          <p:nvPr/>
        </p:nvSpPr>
        <p:spPr>
          <a:xfrm>
            <a:off x="777240" y="2880360"/>
            <a:ext cx="3108960" cy="411480"/>
          </a:xfrm>
          <a:prstGeom prst="rect">
            <a:avLst/>
          </a:prstGeom>
          <a:noFill/>
          <a:ln/>
        </p:spPr>
        <p:txBody>
          <a:bodyPr wrap="square" lIns="0" tIns="0" rIns="0" bIns="0" rtlCol="0" anchor="ctr"/>
          <a:lstStyle/>
          <a:p>
            <a:pPr marL="0" indent="0">
              <a:buNone/>
            </a:pPr>
            <a:r>
              <a:rPr lang="en-US" sz="1300" dirty="0">
                <a:solidFill>
                  <a:schemeClr val="tx2"/>
                </a:solidFill>
              </a:rPr>
              <a:t>Pattern generator and test-runner logic</a:t>
            </a:r>
            <a:endParaRPr lang="en-US" sz="1300" dirty="0"/>
          </a:p>
        </p:txBody>
      </p:sp>
      <p:sp>
        <p:nvSpPr>
          <p:cNvPr id="8" name="Stat suite checks passed"/>
          <p:cNvSpPr/>
          <p:nvPr/>
        </p:nvSpPr>
        <p:spPr>
          <a:xfrm>
            <a:off x="548640" y="3657600"/>
            <a:ext cx="3566160" cy="1828800"/>
          </a:xfrm>
          <a:prstGeom prst="roundRect">
            <a:avLst>
              <a:gd name="adj" fmla="val 6000"/>
            </a:avLst>
          </a:prstGeom>
          <a:solidFill>
            <a:schemeClr val="bg2"/>
          </a:solidFill>
          <a:ln w="9525">
            <a:solidFill>
              <a:srgbClr val="EBD5D7"/>
            </a:solidFill>
            <a:prstDash val="solid"/>
          </a:ln>
        </p:spPr>
        <p:txBody>
          <a:bodyPr/>
          <a:lstStyle/>
          <a:p>
            <a:endParaRPr lang="en-US"/>
          </a:p>
        </p:txBody>
      </p:sp>
      <p:sp>
        <p:nvSpPr>
          <p:cNvPr id="9" name="Text 7"/>
          <p:cNvSpPr txBox="1"/>
          <p:nvPr/>
        </p:nvSpPr>
        <p:spPr>
          <a:xfrm>
            <a:off x="777240" y="3794760"/>
            <a:ext cx="3108960" cy="777240"/>
          </a:xfrm>
          <a:prstGeom prst="rect">
            <a:avLst/>
          </a:prstGeom>
          <a:noFill/>
          <a:ln/>
        </p:spPr>
        <p:txBody>
          <a:bodyPr wrap="square" lIns="0" tIns="0" rIns="0" bIns="0" rtlCol="0" anchor="ctr"/>
          <a:lstStyle/>
          <a:p>
            <a:pPr marL="0" indent="0">
              <a:buNone/>
            </a:pPr>
            <a:r>
              <a:rPr lang="en-US" sz="4400" b="1" dirty="0">
                <a:solidFill>
                  <a:schemeClr val="accent4"/>
                </a:solidFill>
                <a:latin typeface="Cambria" pitchFamily="34" charset="0"/>
                <a:ea typeface="Cambria" pitchFamily="34" charset="-122"/>
                <a:cs typeface="Cambria" pitchFamily="34" charset="-120"/>
              </a:rPr>
              <a:t>15 / 15</a:t>
            </a:r>
            <a:endParaRPr lang="en-US" sz="4400" dirty="0"/>
          </a:p>
        </p:txBody>
      </p:sp>
      <p:sp>
        <p:nvSpPr>
          <p:cNvPr id="10" name="Text 8"/>
          <p:cNvSpPr txBox="1"/>
          <p:nvPr/>
        </p:nvSpPr>
        <p:spPr>
          <a:xfrm>
            <a:off x="777240" y="4572000"/>
            <a:ext cx="3108960" cy="365760"/>
          </a:xfrm>
          <a:prstGeom prst="rect">
            <a:avLst/>
          </a:prstGeom>
          <a:noFill/>
          <a:ln/>
        </p:spPr>
        <p:txBody>
          <a:bodyPr wrap="square" lIns="0" tIns="0" rIns="0" bIns="0" rtlCol="0" anchor="ctr"/>
          <a:lstStyle/>
          <a:p>
            <a:pPr marL="0" indent="0">
              <a:buNone/>
            </a:pPr>
            <a:r>
              <a:rPr lang="en-US" sz="1600" b="1" dirty="0">
                <a:solidFill>
                  <a:schemeClr val="tx1"/>
                </a:solidFill>
              </a:rPr>
              <a:t>suite checks passed</a:t>
            </a:r>
            <a:endParaRPr lang="en-US" sz="1600" dirty="0"/>
          </a:p>
        </p:txBody>
      </p:sp>
      <p:sp>
        <p:nvSpPr>
          <p:cNvPr id="11" name="Text 9"/>
          <p:cNvSpPr txBox="1"/>
          <p:nvPr/>
        </p:nvSpPr>
        <p:spPr>
          <a:xfrm>
            <a:off x="777240" y="4937760"/>
            <a:ext cx="3108960" cy="411480"/>
          </a:xfrm>
          <a:prstGeom prst="rect">
            <a:avLst/>
          </a:prstGeom>
          <a:noFill/>
          <a:ln/>
        </p:spPr>
        <p:txBody>
          <a:bodyPr wrap="square" lIns="0" tIns="0" rIns="0" bIns="0" rtlCol="0" anchor="ctr"/>
          <a:lstStyle/>
          <a:p>
            <a:pPr marL="0" indent="0">
              <a:buNone/>
            </a:pPr>
            <a:r>
              <a:rPr lang="en-US" sz="1300" dirty="0">
                <a:solidFill>
                  <a:schemeClr val="tx2"/>
                </a:solidFill>
              </a:rPr>
              <a:t>Build, reads, expected errors, fixture check</a:t>
            </a:r>
            <a:endParaRPr lang="en-US" sz="1300" dirty="0"/>
          </a:p>
        </p:txBody>
      </p:sp>
      <p:graphicFrame>
        <p:nvGraphicFramePr>
          <p:cNvPr id="12" name="Suite checks"/>
          <p:cNvGraphicFramePr>
            <a:graphicFrameLocks noGrp="1"/>
          </p:cNvGraphicFramePr>
          <p:nvPr>
            <p:extLst>
              <p:ext uri="{D42A27DB-BD31-4B8C-83A1-F6EECF244321}">
                <p14:modId xmlns:p14="http://schemas.microsoft.com/office/powerpoint/2010/main" val="1579011935"/>
              </p:ext>
            </p:extLst>
          </p:nvPr>
        </p:nvGraphicFramePr>
        <p:xfrm>
          <a:off x="4434840" y="1600200"/>
          <a:ext cx="7205472" cy="2980944"/>
        </p:xfrm>
        <a:graphic>
          <a:graphicData uri="http://schemas.openxmlformats.org/drawingml/2006/table">
            <a:tbl>
              <a:tblPr/>
              <a:tblGrid>
                <a:gridCol w="169164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566928">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Group</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r">
                        <a:buNone/>
                      </a:pPr>
                      <a:r>
                        <a:rPr lang="en-US" sz="1400" b="1" dirty="0">
                          <a:solidFill>
                            <a:schemeClr val="bg1"/>
                          </a:solidFill>
                          <a:latin typeface="Calibri" pitchFamily="34" charset="0"/>
                          <a:ea typeface="Calibri" pitchFamily="34" charset="-122"/>
                          <a:cs typeface="Calibri" pitchFamily="34" charset="-120"/>
                        </a:rPr>
                        <a:t>Checks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PASS means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6692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Build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Program compiled with strict flags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6692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Correct reads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First 4 KiB, repeated offset, 256 KiB, last 4 KiB: bytes verified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6692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Expected errors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Missing file, directory, bad offset / length / count, EOF, empty file, short last block, corrupted data: the right error was detected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66928">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Fixture unchanged</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r">
                        <a:buNone/>
                      </a:pPr>
                      <a:r>
                        <a:rPr lang="en-US" sz="1400" dirty="0">
                          <a:solidFill>
                            <a:schemeClr val="tx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Test file checksum identical afterwards</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13" name="Text 10"/>
          <p:cNvSpPr txBox="1"/>
          <p:nvPr/>
        </p:nvSpPr>
        <p:spPr>
          <a:xfrm>
            <a:off x="4434840" y="4892040"/>
            <a:ext cx="7205472" cy="548640"/>
          </a:xfrm>
          <a:prstGeom prst="rect">
            <a:avLst/>
          </a:prstGeom>
          <a:noFill/>
          <a:ln/>
        </p:spPr>
        <p:txBody>
          <a:bodyPr wrap="square" lIns="0" tIns="0" rIns="0" bIns="0" rtlCol="0" anchor="ctr"/>
          <a:lstStyle/>
          <a:p>
            <a:pPr marL="0" indent="0">
              <a:buNone/>
            </a:pPr>
            <a:r>
              <a:rPr lang="en-US" sz="1500" b="1" dirty="0">
                <a:solidFill>
                  <a:schemeClr val="tx1"/>
                </a:solidFill>
              </a:rPr>
              <a:t>The 15 checks are not 15 successful reads: 9 of them pass by correctly detecting an error.</a:t>
            </a:r>
            <a:endParaRPr lang="en-US" sz="1500" dirty="0"/>
          </a:p>
        </p:txBody>
      </p:sp>
      <p:sp>
        <p:nvSpPr>
          <p:cNvPr id="14" name="Text 11"/>
          <p:cNvSpPr txBox="1"/>
          <p:nvPr/>
        </p:nvSpPr>
        <p:spPr>
          <a:xfrm>
            <a:off x="548640" y="5852160"/>
            <a:ext cx="10972800" cy="274320"/>
          </a:xfrm>
          <a:prstGeom prst="rect">
            <a:avLst/>
          </a:prstGeom>
          <a:noFill/>
          <a:ln/>
        </p:spPr>
        <p:txBody>
          <a:bodyPr wrap="square" lIns="0" tIns="0" rIns="0" bIns="0" rtlCol="0" anchor="ctr"/>
          <a:lstStyle/>
          <a:p>
            <a:pPr marL="0" indent="0">
              <a:buNone/>
            </a:pPr>
            <a:r>
              <a:rPr lang="en-US" sz="1100" dirty="0">
                <a:solidFill>
                  <a:schemeClr val="accent6"/>
                </a:solidFill>
              </a:rPr>
              <a:t>Evidence: evidence/smoke_suite_u8pyzzi_/summary.json · unit_tests_babbage_transcript_excerpt.txt · Oct 18, 2026</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pic>
        <p:nvPicPr>
          <p:cNvPr id="26" name="Missouri State logo" descr="logo.png"/>
          <p:cNvPicPr>
            <a:picLocks noChangeAspect="1"/>
          </p:cNvPicPr>
          <p:nvPr/>
        </p:nvPicPr>
        <p:blipFill>
          <a:blip r:embed="rId3"/>
          <a:stretch>
            <a:fillRect/>
          </a:stretch>
        </p:blipFill>
        <p:spPr>
          <a:xfrm>
            <a:off x="9814560" y="201168"/>
            <a:ext cx="1828800" cy="363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47472"/>
            <a:ext cx="9144000" cy="27432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200" b="1" dirty="0">
                <a:solidFill>
                  <a:schemeClr val="tx1"/>
                </a:solidFill>
              </a:rPr>
              <a:t>Reading the test files with up to 8 reads in flight</a:t>
            </a:r>
            <a:endParaRPr lang="en-US" sz="3200" dirty="0"/>
          </a:p>
        </p:txBody>
      </p:sp>
      <p:sp>
        <p:nvSpPr>
          <p:cNvPr id="4" name="Text 2"/>
          <p:cNvSpPr txBox="1"/>
          <p:nvPr/>
        </p:nvSpPr>
        <p:spPr>
          <a:xfrm>
            <a:off x="548640" y="1600200"/>
            <a:ext cx="4206240" cy="365760"/>
          </a:xfrm>
          <a:prstGeom prst="rect">
            <a:avLst/>
          </a:prstGeom>
          <a:noFill/>
          <a:ln/>
        </p:spPr>
        <p:txBody>
          <a:bodyPr wrap="square" lIns="0" tIns="0" rIns="0" bIns="0" rtlCol="0" anchor="ctr"/>
          <a:lstStyle/>
          <a:p>
            <a:pPr marL="0" indent="0">
              <a:buNone/>
            </a:pPr>
            <a:r>
              <a:rPr lang="en-US" sz="1800" b="1" dirty="0">
                <a:solidFill>
                  <a:schemeClr val="accent2"/>
                </a:solidFill>
              </a:rPr>
              <a:t>What this check adds</a:t>
            </a:r>
            <a:endParaRPr lang="en-US" sz="1800" dirty="0"/>
          </a:p>
        </p:txBody>
      </p:sp>
      <p:sp>
        <p:nvSpPr>
          <p:cNvPr id="5" name="Text 3"/>
          <p:cNvSpPr txBox="1"/>
          <p:nvPr/>
        </p:nvSpPr>
        <p:spPr>
          <a:xfrm>
            <a:off x="548640" y="2057400"/>
            <a:ext cx="420624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Runs on the 512 MiB and 2 GiB test files</a:t>
            </a:r>
            <a:endParaRPr lang="en-US" sz="1600" dirty="0"/>
          </a:p>
          <a:p>
            <a:pPr marL="342900" indent="-342900">
              <a:spcAft>
                <a:spcPts val="800"/>
              </a:spcAft>
              <a:buSzPct val="100000"/>
              <a:buChar char="•"/>
            </a:pPr>
            <a:r>
              <a:rPr lang="en-US" sz="1600" dirty="0">
                <a:solidFill>
                  <a:schemeClr val="tx1"/>
                </a:solidFill>
              </a:rPr>
              <a:t>Keeps 1, 4 or 8 reads in flight at once</a:t>
            </a:r>
            <a:endParaRPr lang="en-US" sz="1600" dirty="0"/>
          </a:p>
          <a:p>
            <a:pPr marL="342900" indent="-342900">
              <a:spcAft>
                <a:spcPts val="800"/>
              </a:spcAft>
              <a:buSzPct val="100000"/>
              <a:buChar char="•"/>
            </a:pPr>
            <a:r>
              <a:rPr lang="en-US" sz="1600" dirty="0">
                <a:solidFill>
                  <a:schemeClr val="tx1"/>
                </a:solidFill>
              </a:rPr>
              <a:t>Measures latency and throughput</a:t>
            </a:r>
            <a:endParaRPr lang="en-US" sz="1600" dirty="0"/>
          </a:p>
          <a:p>
            <a:pPr marL="342900" indent="-342900">
              <a:spcAft>
                <a:spcPts val="800"/>
              </a:spcAft>
              <a:buSzPct val="100000"/>
              <a:buChar char="•"/>
            </a:pPr>
            <a:r>
              <a:rPr lang="en-US" sz="1600" dirty="0">
                <a:solidFill>
                  <a:schemeClr val="tx1"/>
                </a:solidFill>
              </a:rPr>
              <a:t>Checks every 4 KiB block of every read</a:t>
            </a:r>
            <a:endParaRPr lang="en-US" sz="1600" dirty="0"/>
          </a:p>
          <a:p>
            <a:pPr marL="342900" indent="-342900">
              <a:spcAft>
                <a:spcPts val="800"/>
              </a:spcAft>
              <a:buSzPct val="100000"/>
              <a:buChar char="•"/>
            </a:pPr>
            <a:r>
              <a:rPr lang="en-US" sz="1600" dirty="0">
                <a:solidFill>
                  <a:schemeClr val="tx1"/>
                </a:solidFill>
              </a:rPr>
              <a:t>Second program: src/smoke_test.c</a:t>
            </a:r>
            <a:endParaRPr lang="en-US" sz="1600" dirty="0"/>
          </a:p>
        </p:txBody>
      </p:sp>
      <p:sp>
        <p:nvSpPr>
          <p:cNvPr id="6" name="Text 4"/>
          <p:cNvSpPr txBox="1"/>
          <p:nvPr/>
        </p:nvSpPr>
        <p:spPr>
          <a:xfrm>
            <a:off x="5120640" y="1600200"/>
            <a:ext cx="6400800" cy="365760"/>
          </a:xfrm>
          <a:prstGeom prst="rect">
            <a:avLst/>
          </a:prstGeom>
          <a:noFill/>
          <a:ln/>
        </p:spPr>
        <p:txBody>
          <a:bodyPr wrap="square" lIns="0" tIns="0" rIns="0" bIns="0" rtlCol="0" anchor="ctr"/>
          <a:lstStyle/>
          <a:p>
            <a:pPr marL="0" indent="0">
              <a:buNone/>
            </a:pPr>
            <a:r>
              <a:rPr lang="en-US" sz="1800" b="1" dirty="0">
                <a:solidFill>
                  <a:schemeClr val="accent2"/>
                </a:solidFill>
              </a:rPr>
              <a:t>Smoke test on Babbage.</a:t>
            </a:r>
            <a:endParaRPr lang="en-US" sz="1800" dirty="0"/>
          </a:p>
        </p:txBody>
      </p:sp>
      <p:graphicFrame>
        <p:nvGraphicFramePr>
          <p:cNvPr id="7" name="Smoke table"/>
          <p:cNvGraphicFramePr>
            <a:graphicFrameLocks noGrp="1"/>
          </p:cNvGraphicFramePr>
          <p:nvPr>
            <p:extLst>
              <p:ext uri="{D42A27DB-BD31-4B8C-83A1-F6EECF244321}">
                <p14:modId xmlns:p14="http://schemas.microsoft.com/office/powerpoint/2010/main" val="1579011935"/>
              </p:ext>
            </p:extLst>
          </p:nvPr>
        </p:nvGraphicFramePr>
        <p:xfrm>
          <a:off x="5120640" y="2057400"/>
          <a:ext cx="6519672" cy="1828800"/>
        </p:xfrm>
        <a:graphic>
          <a:graphicData uri="http://schemas.openxmlformats.org/drawingml/2006/table">
            <a:tbl>
              <a:tblPr/>
              <a:tblGrid>
                <a:gridCol w="2679192">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57200">
                <a:tc>
                  <a:txBody>
                    <a:bodyPr/>
                    <a:lstStyle/>
                    <a:p>
                      <a:pPr marL="0" indent="0" algn="l">
                        <a:buNone/>
                      </a:pPr>
                      <a:r>
                        <a:rPr lang="en-US" sz="1500" b="1" dirty="0">
                          <a:solidFill>
                            <a:schemeClr val="bg1"/>
                          </a:solidFill>
                          <a:latin typeface="Calibri" pitchFamily="34" charset="0"/>
                          <a:ea typeface="Calibri" pitchFamily="34" charset="-122"/>
                          <a:cs typeface="Calibri" pitchFamily="34" charset="-120"/>
                        </a:rPr>
                        <a:t>Case</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r">
                        <a:buNone/>
                      </a:pPr>
                      <a:r>
                        <a:rPr lang="en-US" sz="1500" b="1" dirty="0">
                          <a:solidFill>
                            <a:schemeClr val="bg1"/>
                          </a:solidFill>
                          <a:latin typeface="Calibri" pitchFamily="34" charset="0"/>
                          <a:ea typeface="Calibri" pitchFamily="34" charset="-122"/>
                          <a:cs typeface="Calibri" pitchFamily="34" charset="-120"/>
                        </a:rPr>
                        <a:t>p50 ms</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r">
                        <a:buNone/>
                      </a:pPr>
                      <a:r>
                        <a:rPr lang="en-US" sz="1500" b="1" dirty="0">
                          <a:solidFill>
                            <a:schemeClr val="bg1"/>
                          </a:solidFill>
                          <a:latin typeface="Calibri" pitchFamily="34" charset="0"/>
                          <a:ea typeface="Calibri" pitchFamily="34" charset="-122"/>
                          <a:cs typeface="Calibri" pitchFamily="34" charset="-120"/>
                        </a:rPr>
                        <a:t>p99 ms</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r">
                        <a:buNone/>
                      </a:pPr>
                      <a:r>
                        <a:rPr lang="en-US" sz="1500" b="1" dirty="0">
                          <a:solidFill>
                            <a:schemeClr val="bg1"/>
                          </a:solidFill>
                          <a:latin typeface="Calibri" pitchFamily="34" charset="0"/>
                          <a:ea typeface="Calibri" pitchFamily="34" charset="-122"/>
                          <a:cs typeface="Calibri" pitchFamily="34" charset="-120"/>
                        </a:rPr>
                        <a:t>MiB/s</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l">
                        <a:buNone/>
                      </a:pPr>
                      <a:r>
                        <a:rPr lang="en-US" sz="1500" b="1" dirty="0">
                          <a:solidFill>
                            <a:schemeClr val="bg1"/>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4 KiB random, depth 1</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0.109</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0.174</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33.5</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4 KiB random, depth 8</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0.110</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0.176</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304</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256 KiB sequential, depth 4</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0.384</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0.488</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r">
                        <a:buNone/>
                      </a:pPr>
                      <a:r>
                        <a:rPr lang="en-US" sz="1500" dirty="0">
                          <a:solidFill>
                            <a:schemeClr val="tx1"/>
                          </a:solidFill>
                          <a:latin typeface="Calibri" pitchFamily="34" charset="0"/>
                          <a:ea typeface="Calibri" pitchFamily="34" charset="-122"/>
                          <a:cs typeface="Calibri" pitchFamily="34" charset="-120"/>
                        </a:rPr>
                        <a:t>2,203</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8" name="Text 5"/>
          <p:cNvSpPr txBox="1"/>
          <p:nvPr/>
        </p:nvSpPr>
        <p:spPr>
          <a:xfrm>
            <a:off x="5120640" y="4114800"/>
            <a:ext cx="6519672" cy="640080"/>
          </a:xfrm>
          <a:prstGeom prst="rect">
            <a:avLst/>
          </a:prstGeom>
          <a:noFill/>
          <a:ln/>
        </p:spPr>
        <p:txBody>
          <a:bodyPr wrap="square" lIns="0" tIns="0" rIns="0" bIns="0" rtlCol="0" anchor="ctr"/>
          <a:lstStyle/>
          <a:p>
            <a:pPr marL="0" indent="0">
              <a:buNone/>
            </a:pPr>
            <a:r>
              <a:rPr lang="en-US" sz="1500" dirty="0">
                <a:solidFill>
                  <a:schemeClr val="tx2"/>
                </a:solidFill>
              </a:rPr>
              <a:t>Every byte verified, 0 errors. Program: src/smoke_test.c. liburing built in ~/local without root.</a:t>
            </a:r>
            <a:endParaRPr lang="en-US" sz="1500" dirty="0"/>
          </a:p>
        </p:txBody>
      </p:sp>
      <p:sp>
        <p:nvSpPr>
          <p:cNvPr id="9" name="Text 6"/>
          <p:cNvSpPr txBox="1"/>
          <p:nvPr/>
        </p:nvSpPr>
        <p:spPr>
          <a:xfrm>
            <a:off x="548640" y="5852160"/>
            <a:ext cx="10972800" cy="274320"/>
          </a:xfrm>
          <a:prstGeom prst="rect">
            <a:avLst/>
          </a:prstGeom>
          <a:noFill/>
          <a:ln/>
        </p:spPr>
        <p:txBody>
          <a:bodyPr wrap="square" lIns="0" tIns="0" rIns="0" bIns="0" rtlCol="0" anchor="ctr"/>
          <a:lstStyle/>
          <a:p>
            <a:pPr marL="0" indent="0">
              <a:buNone/>
            </a:pPr>
            <a:r>
              <a:rPr lang="en-US" sz="1100" dirty="0">
                <a:solidFill>
                  <a:schemeClr val="accent6"/>
                </a:solidFill>
              </a:rPr>
              <a:t>Sanity checks only, not experiment results. Source: results/m1_smoke.txt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pic>
        <p:nvPicPr>
          <p:cNvPr id="26" name="Missouri State logo" descr="logo.png"/>
          <p:cNvPicPr>
            <a:picLocks noChangeAspect="1"/>
          </p:cNvPicPr>
          <p:nvPr/>
        </p:nvPicPr>
        <p:blipFill>
          <a:blip r:embed="rId3"/>
          <a:stretch>
            <a:fillRect/>
          </a:stretch>
        </p:blipFill>
        <p:spPr>
          <a:xfrm>
            <a:off x="9814560" y="201168"/>
            <a:ext cx="1828800" cy="363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47472"/>
            <a:ext cx="9144000" cy="27432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200" b="1" dirty="0">
                <a:solidFill>
                  <a:schemeClr val="tx1"/>
                </a:solidFill>
              </a:rPr>
              <a:t>Physical HDD arranged with the department</a:t>
            </a:r>
            <a:endParaRPr lang="en-US" sz="3200" dirty="0"/>
          </a:p>
        </p:txBody>
      </p:sp>
      <p:sp>
        <p:nvSpPr>
          <p:cNvPr id="4" name="Evidence 1"/>
          <p:cNvSpPr/>
          <p:nvPr/>
        </p:nvSpPr>
        <p:spPr>
          <a:xfrm>
            <a:off x="548640" y="1645920"/>
            <a:ext cx="3515258" cy="3017520"/>
          </a:xfrm>
          <a:prstGeom prst="roundRect">
            <a:avLst>
              <a:gd name="adj" fmla="val 3636"/>
            </a:avLst>
          </a:prstGeom>
          <a:solidFill>
            <a:schemeClr val="bg2"/>
          </a:solidFill>
          <a:ln w="9525">
            <a:solidFill>
              <a:srgbClr val="EBD5D7"/>
            </a:solidFill>
            <a:prstDash val="solid"/>
          </a:ln>
        </p:spPr>
        <p:txBody>
          <a:bodyPr/>
          <a:lstStyle/>
          <a:p>
            <a:endParaRPr lang="en-US"/>
          </a:p>
        </p:txBody>
      </p:sp>
      <p:sp>
        <p:nvSpPr>
          <p:cNvPr id="5" name="Text 3"/>
          <p:cNvSpPr txBox="1"/>
          <p:nvPr/>
        </p:nvSpPr>
        <p:spPr>
          <a:xfrm>
            <a:off x="777240" y="1874520"/>
            <a:ext cx="3058058" cy="1005840"/>
          </a:xfrm>
          <a:prstGeom prst="rect">
            <a:avLst/>
          </a:prstGeom>
          <a:noFill/>
          <a:ln/>
        </p:spPr>
        <p:txBody>
          <a:bodyPr wrap="square" lIns="0" tIns="0" rIns="0" bIns="0" rtlCol="0" anchor="ctr"/>
          <a:lstStyle/>
          <a:p>
            <a:pPr marL="0" indent="0">
              <a:buNone/>
            </a:pPr>
            <a:r>
              <a:rPr lang="en-US" sz="4800" b="1" dirty="0">
                <a:solidFill>
                  <a:schemeClr val="accent4"/>
                </a:solidFill>
                <a:latin typeface="Cambria" pitchFamily="34" charset="0"/>
                <a:ea typeface="Cambria" pitchFamily="34" charset="-122"/>
                <a:cs typeface="Cambria" pitchFamily="34" charset="-120"/>
              </a:rPr>
              <a:t>500</a:t>
            </a:r>
            <a:endParaRPr lang="en-US" sz="4800" dirty="0"/>
          </a:p>
        </p:txBody>
      </p:sp>
      <p:sp>
        <p:nvSpPr>
          <p:cNvPr id="6" name="Text 4"/>
          <p:cNvSpPr txBox="1"/>
          <p:nvPr/>
        </p:nvSpPr>
        <p:spPr>
          <a:xfrm>
            <a:off x="777240" y="2880360"/>
            <a:ext cx="3058058" cy="365760"/>
          </a:xfrm>
          <a:prstGeom prst="rect">
            <a:avLst/>
          </a:prstGeom>
          <a:noFill/>
          <a:ln/>
        </p:spPr>
        <p:txBody>
          <a:bodyPr wrap="square" lIns="0" tIns="0" rIns="0" bIns="0" rtlCol="0" anchor="ctr"/>
          <a:lstStyle/>
          <a:p>
            <a:pPr marL="0" indent="0">
              <a:buNone/>
            </a:pPr>
            <a:r>
              <a:rPr lang="en-US" sz="1600" b="1" dirty="0">
                <a:solidFill>
                  <a:schemeClr val="tx1"/>
                </a:solidFill>
              </a:rPr>
              <a:t>GB HDD installed</a:t>
            </a:r>
            <a:endParaRPr lang="en-US" sz="1600" dirty="0"/>
          </a:p>
        </p:txBody>
      </p:sp>
      <p:sp>
        <p:nvSpPr>
          <p:cNvPr id="7" name="Text 5"/>
          <p:cNvSpPr txBox="1"/>
          <p:nvPr/>
        </p:nvSpPr>
        <p:spPr>
          <a:xfrm>
            <a:off x="777240" y="3383280"/>
            <a:ext cx="3058058" cy="1645920"/>
          </a:xfrm>
          <a:prstGeom prst="rect">
            <a:avLst/>
          </a:prstGeom>
          <a:noFill/>
          <a:ln/>
        </p:spPr>
        <p:txBody>
          <a:bodyPr wrap="square" lIns="0" tIns="0" rIns="0" bIns="0" rtlCol="0" anchor="t"/>
          <a:lstStyle/>
          <a:p>
            <a:pPr marL="0" indent="0">
              <a:buNone/>
            </a:pPr>
            <a:r>
              <a:rPr lang="en-US" sz="1500" dirty="0">
                <a:solidFill>
                  <a:schemeClr val="tx2"/>
                </a:solidFill>
              </a:rPr>
              <a:t>A physical hard drive has been installed for our project experiments.</a:t>
            </a:r>
            <a:endParaRPr lang="en-US" sz="1500" dirty="0"/>
          </a:p>
        </p:txBody>
      </p:sp>
      <p:sp>
        <p:nvSpPr>
          <p:cNvPr id="8" name="Evidence 2"/>
          <p:cNvSpPr/>
          <p:nvPr/>
        </p:nvSpPr>
        <p:spPr>
          <a:xfrm>
            <a:off x="4338218" y="1645920"/>
            <a:ext cx="3515258" cy="3017520"/>
          </a:xfrm>
          <a:prstGeom prst="roundRect">
            <a:avLst>
              <a:gd name="adj" fmla="val 3636"/>
            </a:avLst>
          </a:prstGeom>
          <a:solidFill>
            <a:schemeClr val="bg2"/>
          </a:solidFill>
          <a:ln w="9525">
            <a:solidFill>
              <a:srgbClr val="EBD5D7"/>
            </a:solidFill>
            <a:prstDash val="solid"/>
          </a:ln>
        </p:spPr>
        <p:txBody>
          <a:bodyPr/>
          <a:lstStyle/>
          <a:p>
            <a:endParaRPr lang="en-US"/>
          </a:p>
        </p:txBody>
      </p:sp>
      <p:sp>
        <p:nvSpPr>
          <p:cNvPr id="9" name="Text 7"/>
          <p:cNvSpPr txBox="1"/>
          <p:nvPr/>
        </p:nvSpPr>
        <p:spPr>
          <a:xfrm>
            <a:off x="4566818" y="1874520"/>
            <a:ext cx="3058058" cy="1005840"/>
          </a:xfrm>
          <a:prstGeom prst="rect">
            <a:avLst/>
          </a:prstGeom>
          <a:noFill/>
          <a:ln/>
        </p:spPr>
        <p:txBody>
          <a:bodyPr wrap="square" lIns="0" tIns="0" rIns="0" bIns="0" rtlCol="0" anchor="ctr"/>
          <a:lstStyle/>
          <a:p>
            <a:pPr marL="0" indent="0">
              <a:buNone/>
            </a:pPr>
            <a:r>
              <a:rPr lang="en-US" sz="4800" b="1" dirty="0">
                <a:solidFill>
                  <a:schemeClr val="accent4"/>
                </a:solidFill>
                <a:latin typeface="Cambria" pitchFamily="34" charset="0"/>
                <a:ea typeface="Cambria" pitchFamily="34" charset="-122"/>
                <a:cs typeface="Cambria" pitchFamily="34" charset="-120"/>
              </a:rPr>
              <a:t>IT</a:t>
            </a:r>
            <a:endParaRPr lang="en-US" sz="4800" dirty="0"/>
          </a:p>
        </p:txBody>
      </p:sp>
      <p:sp>
        <p:nvSpPr>
          <p:cNvPr id="10" name="Text 8"/>
          <p:cNvSpPr txBox="1"/>
          <p:nvPr/>
        </p:nvSpPr>
        <p:spPr>
          <a:xfrm>
            <a:off x="4566818" y="2880360"/>
            <a:ext cx="3058058" cy="365760"/>
          </a:xfrm>
          <a:prstGeom prst="rect">
            <a:avLst/>
          </a:prstGeom>
          <a:noFill/>
          <a:ln/>
        </p:spPr>
        <p:txBody>
          <a:bodyPr wrap="square" lIns="0" tIns="0" rIns="0" bIns="0" rtlCol="0" anchor="ctr"/>
          <a:lstStyle/>
          <a:p>
            <a:pPr marL="0" indent="0">
              <a:buNone/>
            </a:pPr>
            <a:r>
              <a:rPr lang="en-US" sz="1600" b="1" dirty="0">
                <a:solidFill>
                  <a:schemeClr val="tx1"/>
                </a:solidFill>
              </a:rPr>
              <a:t>Department support</a:t>
            </a:r>
            <a:endParaRPr lang="en-US" sz="1600" dirty="0"/>
          </a:p>
        </p:txBody>
      </p:sp>
      <p:sp>
        <p:nvSpPr>
          <p:cNvPr id="11" name="Text 9"/>
          <p:cNvSpPr txBox="1"/>
          <p:nvPr/>
        </p:nvSpPr>
        <p:spPr>
          <a:xfrm>
            <a:off x="4566818" y="3383280"/>
            <a:ext cx="3058058" cy="1645920"/>
          </a:xfrm>
          <a:prstGeom prst="rect">
            <a:avLst/>
          </a:prstGeom>
          <a:noFill/>
          <a:ln/>
        </p:spPr>
        <p:txBody>
          <a:bodyPr wrap="square" lIns="0" tIns="0" rIns="0" bIns="0" rtlCol="0" anchor="t"/>
          <a:lstStyle/>
          <a:p>
            <a:pPr marL="0" indent="0">
              <a:buNone/>
            </a:pPr>
            <a:r>
              <a:rPr lang="en-US" sz="1500" dirty="0">
                <a:solidFill>
                  <a:schemeClr val="tx2"/>
                </a:solidFill>
              </a:rPr>
              <a:t>I worked with Brian Hays to arrange a computer with a physical HDD.</a:t>
            </a:r>
            <a:endParaRPr lang="en-US" sz="1500" dirty="0"/>
          </a:p>
        </p:txBody>
      </p:sp>
      <p:sp>
        <p:nvSpPr>
          <p:cNvPr id="12" name="Evidence 3"/>
          <p:cNvSpPr/>
          <p:nvPr/>
        </p:nvSpPr>
        <p:spPr>
          <a:xfrm>
            <a:off x="8127797" y="1645920"/>
            <a:ext cx="3515258" cy="3017520"/>
          </a:xfrm>
          <a:prstGeom prst="roundRect">
            <a:avLst>
              <a:gd name="adj" fmla="val 3636"/>
            </a:avLst>
          </a:prstGeom>
          <a:solidFill>
            <a:schemeClr val="bg2"/>
          </a:solidFill>
          <a:ln w="9525">
            <a:solidFill>
              <a:srgbClr val="EBD5D7"/>
            </a:solidFill>
            <a:prstDash val="solid"/>
          </a:ln>
        </p:spPr>
        <p:txBody>
          <a:bodyPr/>
          <a:lstStyle/>
          <a:p>
            <a:endParaRPr lang="en-US"/>
          </a:p>
        </p:txBody>
      </p:sp>
      <p:sp>
        <p:nvSpPr>
          <p:cNvPr id="13" name="Text 11"/>
          <p:cNvSpPr txBox="1"/>
          <p:nvPr/>
        </p:nvSpPr>
        <p:spPr>
          <a:xfrm>
            <a:off x="8356397" y="1874520"/>
            <a:ext cx="3058058" cy="1005840"/>
          </a:xfrm>
          <a:prstGeom prst="rect">
            <a:avLst/>
          </a:prstGeom>
          <a:noFill/>
          <a:ln/>
        </p:spPr>
        <p:txBody>
          <a:bodyPr wrap="square" lIns="0" tIns="0" rIns="0" bIns="0" rtlCol="0" anchor="ctr"/>
          <a:lstStyle/>
          <a:p>
            <a:pPr marL="0" indent="0">
              <a:buNone/>
            </a:pPr>
            <a:r>
              <a:rPr lang="en-US" sz="4800" b="1" dirty="0">
                <a:solidFill>
                  <a:schemeClr val="accent4"/>
                </a:solidFill>
                <a:latin typeface="Cambria" pitchFamily="34" charset="0"/>
                <a:ea typeface="Cambria" pitchFamily="34" charset="-122"/>
                <a:cs typeface="Cambria" pitchFamily="34" charset="-120"/>
              </a:rPr>
              <a:t>Next</a:t>
            </a:r>
            <a:endParaRPr lang="en-US" sz="4800" dirty="0"/>
          </a:p>
        </p:txBody>
      </p:sp>
      <p:sp>
        <p:nvSpPr>
          <p:cNvPr id="14" name="Text 12"/>
          <p:cNvSpPr txBox="1"/>
          <p:nvPr/>
        </p:nvSpPr>
        <p:spPr>
          <a:xfrm>
            <a:off x="8356397" y="2880360"/>
            <a:ext cx="3058058" cy="365760"/>
          </a:xfrm>
          <a:prstGeom prst="rect">
            <a:avLst/>
          </a:prstGeom>
          <a:noFill/>
          <a:ln/>
        </p:spPr>
        <p:txBody>
          <a:bodyPr wrap="square" lIns="0" tIns="0" rIns="0" bIns="0" rtlCol="0" anchor="ctr"/>
          <a:lstStyle/>
          <a:p>
            <a:pPr marL="0" indent="0">
              <a:buNone/>
            </a:pPr>
            <a:r>
              <a:rPr lang="en-US" sz="1600" b="1" dirty="0">
                <a:solidFill>
                  <a:schemeClr val="tx1"/>
                </a:solidFill>
              </a:rPr>
              <a:t>Prepare the test system</a:t>
            </a:r>
            <a:endParaRPr lang="en-US" sz="1600" dirty="0"/>
          </a:p>
        </p:txBody>
      </p:sp>
      <p:sp>
        <p:nvSpPr>
          <p:cNvPr id="15" name="Text 13"/>
          <p:cNvSpPr txBox="1"/>
          <p:nvPr/>
        </p:nvSpPr>
        <p:spPr>
          <a:xfrm>
            <a:off x="8356397" y="3383280"/>
            <a:ext cx="3058058" cy="1645920"/>
          </a:xfrm>
          <a:prstGeom prst="rect">
            <a:avLst/>
          </a:prstGeom>
          <a:noFill/>
          <a:ln/>
        </p:spPr>
        <p:txBody>
          <a:bodyPr wrap="square" lIns="0" tIns="0" rIns="0" bIns="0" rtlCol="0" anchor="t"/>
          <a:lstStyle/>
          <a:p>
            <a:pPr marL="0" indent="0">
              <a:buNone/>
            </a:pPr>
            <a:r>
              <a:rPr lang="en-US" sz="1500" dirty="0">
                <a:solidFill>
                  <a:schemeClr val="tx2"/>
                </a:solidFill>
              </a:rPr>
              <a:t>Check access, set up the software, and run the foreground/background tests.</a:t>
            </a:r>
            <a:endParaRPr lang="en-US" sz="1500" dirty="0"/>
          </a:p>
        </p:txBody>
      </p:sp>
      <p:sp>
        <p:nvSpPr>
          <p:cNvPr id="16" name="Text 14"/>
          <p:cNvSpPr txBox="1"/>
          <p:nvPr/>
        </p:nvSpPr>
        <p:spPr>
          <a:xfrm>
            <a:off x="548640" y="4983480"/>
            <a:ext cx="11064240" cy="640080"/>
          </a:xfrm>
          <a:prstGeom prst="rect">
            <a:avLst/>
          </a:prstGeom>
          <a:noFill/>
          <a:ln/>
        </p:spPr>
        <p:txBody>
          <a:bodyPr wrap="square" lIns="0" tIns="0" rIns="0" bIns="0" rtlCol="0" anchor="ctr"/>
          <a:lstStyle/>
          <a:p>
            <a:pPr marL="0" indent="0">
              <a:buNone/>
            </a:pPr>
            <a:r>
              <a:rPr lang="en-US" sz="1500" b="1" dirty="0">
                <a:solidFill>
                  <a:schemeClr val="tx1"/>
                </a:solidFill>
              </a:rPr>
              <a:t>This setup will support the next stage of our foreground and background experiments.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pic>
        <p:nvPicPr>
          <p:cNvPr id="26" name="Missouri State logo" descr="logo.png"/>
          <p:cNvPicPr>
            <a:picLocks noChangeAspect="1"/>
          </p:cNvPicPr>
          <p:nvPr/>
        </p:nvPicPr>
        <p:blipFill>
          <a:blip r:embed="rId3"/>
          <a:stretch>
            <a:fillRect/>
          </a:stretch>
        </p:blipFill>
        <p:spPr>
          <a:xfrm>
            <a:off x="9814560" y="201168"/>
            <a:ext cx="1828800" cy="363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47472"/>
            <a:ext cx="9144000" cy="274320"/>
          </a:xfrm>
          <a:prstGeom prst="rect">
            <a:avLst/>
          </a:prstGeom>
          <a:noFill/>
          <a:ln/>
        </p:spPr>
        <p:txBody>
          <a:bodyPr wrap="square" lIns="0" tIns="0" rIns="0" bIns="0" rtlCol="0" anchor="ctr"/>
          <a:lstStyle/>
          <a:p>
            <a:pPr marL="0" indent="0">
              <a:buNone/>
            </a:pP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200" b="1" dirty="0">
                <a:solidFill>
                  <a:schemeClr val="tx1"/>
                </a:solidFill>
              </a:rPr>
              <a:t>Proposed dispatcher: two queues, one io_uring backend</a:t>
            </a:r>
            <a:endParaRPr lang="en-US" sz="3200" dirty="0"/>
          </a:p>
        </p:txBody>
      </p:sp>
      <p:sp>
        <p:nvSpPr>
          <p:cNvPr id="4" name="Flow Foreground queue"/>
          <p:cNvSpPr/>
          <p:nvPr/>
        </p:nvSpPr>
        <p:spPr>
          <a:xfrm>
            <a:off x="548640" y="1554480"/>
            <a:ext cx="2011680" cy="685800"/>
          </a:xfrm>
          <a:prstGeom prst="roundRect">
            <a:avLst>
              <a:gd name="adj" fmla="val 13333"/>
            </a:avLst>
          </a:prstGeom>
          <a:solidFill>
            <a:schemeClr val="bg2"/>
          </a:solidFill>
          <a:ln w="9525">
            <a:solidFill>
              <a:srgbClr val="EBD5D7"/>
            </a:solidFill>
            <a:prstDash val="solid"/>
          </a:ln>
        </p:spPr>
        <p:txBody>
          <a:bodyPr/>
          <a:lstStyle/>
          <a:p>
            <a:endParaRPr lang="en-US"/>
          </a:p>
        </p:txBody>
      </p:sp>
      <p:sp>
        <p:nvSpPr>
          <p:cNvPr id="5" name="Text 3"/>
          <p:cNvSpPr txBox="1"/>
          <p:nvPr/>
        </p:nvSpPr>
        <p:spPr>
          <a:xfrm>
            <a:off x="548640" y="1554480"/>
            <a:ext cx="2011680" cy="685800"/>
          </a:xfrm>
          <a:prstGeom prst="rect">
            <a:avLst/>
          </a:prstGeom>
          <a:noFill/>
          <a:ln/>
        </p:spPr>
        <p:txBody>
          <a:bodyPr wrap="square" lIns="0" tIns="0" rIns="0" bIns="0" rtlCol="0" anchor="ctr"/>
          <a:lstStyle/>
          <a:p>
            <a:pPr marL="0" indent="0" algn="ctr">
              <a:buNone/>
            </a:pPr>
            <a:r>
              <a:rPr lang="en-US" sz="1400" b="1" dirty="0">
                <a:solidFill>
                  <a:schemeClr val="tx1"/>
                </a:solidFill>
              </a:rPr>
              <a:t>Foreground queue</a:t>
            </a:r>
            <a:endParaRPr lang="en-US" sz="1400" dirty="0"/>
          </a:p>
          <a:p>
            <a:pPr marL="0" indent="0" algn="ctr">
              <a:buNone/>
            </a:pPr>
            <a:r>
              <a:rPr lang="en-US" sz="1200" dirty="0">
                <a:solidFill>
                  <a:schemeClr val="tx1"/>
                </a:solidFill>
              </a:rPr>
              <a:t>4 KiB random</a:t>
            </a:r>
            <a:endParaRPr lang="en-US" sz="1400" dirty="0"/>
          </a:p>
        </p:txBody>
      </p:sp>
      <p:sp>
        <p:nvSpPr>
          <p:cNvPr id="6" name="Flow Background queue"/>
          <p:cNvSpPr/>
          <p:nvPr/>
        </p:nvSpPr>
        <p:spPr>
          <a:xfrm>
            <a:off x="548640" y="2377440"/>
            <a:ext cx="2011680" cy="685800"/>
          </a:xfrm>
          <a:prstGeom prst="roundRect">
            <a:avLst>
              <a:gd name="adj" fmla="val 13333"/>
            </a:avLst>
          </a:prstGeom>
          <a:solidFill>
            <a:schemeClr val="bg2"/>
          </a:solidFill>
          <a:ln w="9525">
            <a:solidFill>
              <a:srgbClr val="EBD5D7"/>
            </a:solidFill>
            <a:prstDash val="solid"/>
          </a:ln>
        </p:spPr>
        <p:txBody>
          <a:bodyPr/>
          <a:lstStyle/>
          <a:p>
            <a:endParaRPr lang="en-US"/>
          </a:p>
        </p:txBody>
      </p:sp>
      <p:sp>
        <p:nvSpPr>
          <p:cNvPr id="7" name="Text 5"/>
          <p:cNvSpPr txBox="1"/>
          <p:nvPr/>
        </p:nvSpPr>
        <p:spPr>
          <a:xfrm>
            <a:off x="548640" y="2377440"/>
            <a:ext cx="2011680" cy="685800"/>
          </a:xfrm>
          <a:prstGeom prst="rect">
            <a:avLst/>
          </a:prstGeom>
          <a:noFill/>
          <a:ln/>
        </p:spPr>
        <p:txBody>
          <a:bodyPr wrap="square" lIns="0" tIns="0" rIns="0" bIns="0" rtlCol="0" anchor="ctr"/>
          <a:lstStyle/>
          <a:p>
            <a:pPr marL="0" indent="0" algn="ctr">
              <a:buNone/>
            </a:pPr>
            <a:r>
              <a:rPr lang="en-US" sz="1400" b="1" dirty="0">
                <a:solidFill>
                  <a:schemeClr val="tx1"/>
                </a:solidFill>
              </a:rPr>
              <a:t>Background queue</a:t>
            </a:r>
            <a:endParaRPr lang="en-US" sz="1400" dirty="0"/>
          </a:p>
          <a:p>
            <a:pPr marL="0" indent="0" algn="ctr">
              <a:buNone/>
            </a:pPr>
            <a:r>
              <a:rPr lang="en-US" sz="1200" dirty="0">
                <a:solidFill>
                  <a:schemeClr val="tx1"/>
                </a:solidFill>
              </a:rPr>
              <a:t>256 KiB sequential</a:t>
            </a:r>
            <a:endParaRPr lang="en-US" sz="1400" dirty="0"/>
          </a:p>
        </p:txBody>
      </p:sp>
      <p:sp>
        <p:nvSpPr>
          <p:cNvPr id="8" name="Flow Dispatcher"/>
          <p:cNvSpPr/>
          <p:nvPr/>
        </p:nvSpPr>
        <p:spPr>
          <a:xfrm>
            <a:off x="3576218" y="1965960"/>
            <a:ext cx="2011680" cy="685800"/>
          </a:xfrm>
          <a:prstGeom prst="roundRect">
            <a:avLst>
              <a:gd name="adj" fmla="val 13333"/>
            </a:avLst>
          </a:prstGeom>
          <a:solidFill>
            <a:schemeClr val="tx1"/>
          </a:solidFill>
          <a:ln w="9525">
            <a:solidFill>
              <a:srgbClr val="EBD5D7"/>
            </a:solidFill>
            <a:prstDash val="solid"/>
          </a:ln>
        </p:spPr>
        <p:txBody>
          <a:bodyPr/>
          <a:lstStyle/>
          <a:p>
            <a:endParaRPr lang="en-US"/>
          </a:p>
        </p:txBody>
      </p:sp>
      <p:sp>
        <p:nvSpPr>
          <p:cNvPr id="9" name="Text 7"/>
          <p:cNvSpPr txBox="1"/>
          <p:nvPr/>
        </p:nvSpPr>
        <p:spPr>
          <a:xfrm>
            <a:off x="3576218" y="1965960"/>
            <a:ext cx="2011680" cy="685800"/>
          </a:xfrm>
          <a:prstGeom prst="rect">
            <a:avLst/>
          </a:prstGeom>
          <a:noFill/>
          <a:ln/>
        </p:spPr>
        <p:txBody>
          <a:bodyPr wrap="square" lIns="0" tIns="0" rIns="0" bIns="0" rtlCol="0" anchor="ctr"/>
          <a:lstStyle/>
          <a:p>
            <a:pPr marL="0" indent="0" algn="ctr">
              <a:buNone/>
            </a:pPr>
            <a:r>
              <a:rPr lang="en-US" sz="1400" b="1" dirty="0">
                <a:solidFill>
                  <a:schemeClr val="bg1"/>
                </a:solidFill>
              </a:rPr>
              <a:t>Dispatcher</a:t>
            </a:r>
            <a:endParaRPr lang="en-US" sz="1400" dirty="0"/>
          </a:p>
          <a:p>
            <a:pPr marL="0" indent="0" algn="ctr">
              <a:buNone/>
            </a:pPr>
            <a:r>
              <a:rPr lang="en-US" sz="1200" dirty="0">
                <a:solidFill>
                  <a:schemeClr val="bg1"/>
                </a:solidFill>
              </a:rPr>
              <a:t>FG limit · BG limit q</a:t>
            </a:r>
            <a:endParaRPr lang="en-US" sz="1400" dirty="0"/>
          </a:p>
        </p:txBody>
      </p:sp>
      <p:sp>
        <p:nvSpPr>
          <p:cNvPr id="10" name="Flow io_uring I/O"/>
          <p:cNvSpPr/>
          <p:nvPr/>
        </p:nvSpPr>
        <p:spPr>
          <a:xfrm>
            <a:off x="6603797" y="1965960"/>
            <a:ext cx="2011680" cy="685800"/>
          </a:xfrm>
          <a:prstGeom prst="roundRect">
            <a:avLst>
              <a:gd name="adj" fmla="val 13333"/>
            </a:avLst>
          </a:prstGeom>
          <a:solidFill>
            <a:schemeClr val="bg2"/>
          </a:solidFill>
          <a:ln w="9525">
            <a:solidFill>
              <a:srgbClr val="EBD5D7"/>
            </a:solidFill>
            <a:prstDash val="solid"/>
          </a:ln>
        </p:spPr>
        <p:txBody>
          <a:bodyPr/>
          <a:lstStyle/>
          <a:p>
            <a:endParaRPr lang="en-US"/>
          </a:p>
        </p:txBody>
      </p:sp>
      <p:sp>
        <p:nvSpPr>
          <p:cNvPr id="11" name="Text 9"/>
          <p:cNvSpPr txBox="1"/>
          <p:nvPr/>
        </p:nvSpPr>
        <p:spPr>
          <a:xfrm>
            <a:off x="6603797" y="1965960"/>
            <a:ext cx="2011680" cy="685800"/>
          </a:xfrm>
          <a:prstGeom prst="rect">
            <a:avLst/>
          </a:prstGeom>
          <a:noFill/>
          <a:ln/>
        </p:spPr>
        <p:txBody>
          <a:bodyPr wrap="square" lIns="0" tIns="0" rIns="0" bIns="0" rtlCol="0" anchor="ctr"/>
          <a:lstStyle/>
          <a:p>
            <a:pPr marL="0" indent="0" algn="ctr">
              <a:buNone/>
            </a:pPr>
            <a:r>
              <a:rPr lang="en-US" sz="1400" b="1" dirty="0">
                <a:solidFill>
                  <a:schemeClr val="tx1"/>
                </a:solidFill>
              </a:rPr>
              <a:t>io_uring I/O</a:t>
            </a:r>
            <a:endParaRPr lang="en-US" sz="1400" dirty="0"/>
          </a:p>
          <a:p>
            <a:pPr marL="0" indent="0" algn="ctr">
              <a:buNone/>
            </a:pPr>
            <a:r>
              <a:rPr lang="en-US" sz="1200" dirty="0">
                <a:solidFill>
                  <a:schemeClr val="tx1"/>
                </a:solidFill>
              </a:rPr>
              <a:t>O_DIRECT reads</a:t>
            </a:r>
            <a:endParaRPr lang="en-US" sz="1400" dirty="0"/>
          </a:p>
        </p:txBody>
      </p:sp>
      <p:sp>
        <p:nvSpPr>
          <p:cNvPr id="12" name="Flow Completion"/>
          <p:cNvSpPr/>
          <p:nvPr/>
        </p:nvSpPr>
        <p:spPr>
          <a:xfrm>
            <a:off x="9631375" y="1965960"/>
            <a:ext cx="2011680" cy="685800"/>
          </a:xfrm>
          <a:prstGeom prst="roundRect">
            <a:avLst>
              <a:gd name="adj" fmla="val 13333"/>
            </a:avLst>
          </a:prstGeom>
          <a:solidFill>
            <a:schemeClr val="bg2"/>
          </a:solidFill>
          <a:ln w="9525">
            <a:solidFill>
              <a:srgbClr val="EBD5D7"/>
            </a:solidFill>
            <a:prstDash val="solid"/>
          </a:ln>
        </p:spPr>
        <p:txBody>
          <a:bodyPr/>
          <a:lstStyle/>
          <a:p>
            <a:endParaRPr lang="en-US"/>
          </a:p>
        </p:txBody>
      </p:sp>
      <p:sp>
        <p:nvSpPr>
          <p:cNvPr id="13" name="Text 11"/>
          <p:cNvSpPr txBox="1"/>
          <p:nvPr/>
        </p:nvSpPr>
        <p:spPr>
          <a:xfrm>
            <a:off x="9631375" y="1965960"/>
            <a:ext cx="2011680" cy="685800"/>
          </a:xfrm>
          <a:prstGeom prst="rect">
            <a:avLst/>
          </a:prstGeom>
          <a:noFill/>
          <a:ln/>
        </p:spPr>
        <p:txBody>
          <a:bodyPr wrap="square" lIns="0" tIns="0" rIns="0" bIns="0" rtlCol="0" anchor="ctr"/>
          <a:lstStyle/>
          <a:p>
            <a:pPr marL="0" indent="0" algn="ctr">
              <a:buNone/>
            </a:pPr>
            <a:r>
              <a:rPr lang="en-US" sz="1400" b="1" dirty="0">
                <a:solidFill>
                  <a:schemeClr val="tx1"/>
                </a:solidFill>
              </a:rPr>
              <a:t>Completion</a:t>
            </a:r>
            <a:endParaRPr lang="en-US" sz="1400" dirty="0"/>
          </a:p>
          <a:p>
            <a:pPr marL="0" indent="0" algn="ctr">
              <a:buNone/>
            </a:pPr>
            <a:r>
              <a:rPr lang="en-US" sz="1200" dirty="0">
                <a:solidFill>
                  <a:schemeClr val="tx1"/>
                </a:solidFill>
              </a:rPr>
              <a:t>match ID · verify</a:t>
            </a:r>
            <a:endParaRPr lang="en-US" sz="1400" dirty="0"/>
          </a:p>
        </p:txBody>
      </p:sp>
      <p:sp>
        <p:nvSpPr>
          <p:cNvPr id="14" name="Arrow FG"/>
          <p:cNvSpPr/>
          <p:nvPr/>
        </p:nvSpPr>
        <p:spPr>
          <a:xfrm>
            <a:off x="2560320" y="1897380"/>
            <a:ext cx="1015898" cy="320040"/>
          </a:xfrm>
          <a:prstGeom prst="line">
            <a:avLst/>
          </a:prstGeom>
          <a:noFill/>
          <a:ln w="19050">
            <a:solidFill>
              <a:srgbClr val="6B0F1A"/>
            </a:solidFill>
            <a:prstDash val="solid"/>
            <a:tailEnd type="triangle"/>
          </a:ln>
        </p:spPr>
        <p:txBody>
          <a:bodyPr/>
          <a:lstStyle/>
          <a:p>
            <a:endParaRPr lang="en-US"/>
          </a:p>
        </p:txBody>
      </p:sp>
      <p:sp>
        <p:nvSpPr>
          <p:cNvPr id="15" name="Arrow BG"/>
          <p:cNvSpPr/>
          <p:nvPr/>
        </p:nvSpPr>
        <p:spPr>
          <a:xfrm flipV="1">
            <a:off x="2560320" y="2400300"/>
            <a:ext cx="1015898" cy="320040"/>
          </a:xfrm>
          <a:prstGeom prst="line">
            <a:avLst/>
          </a:prstGeom>
          <a:noFill/>
          <a:ln w="19050">
            <a:solidFill>
              <a:srgbClr val="6B0F1A"/>
            </a:solidFill>
            <a:prstDash val="solid"/>
            <a:tailEnd type="triangle"/>
          </a:ln>
        </p:spPr>
        <p:txBody>
          <a:bodyPr/>
          <a:lstStyle/>
          <a:p>
            <a:endParaRPr lang="en-US"/>
          </a:p>
        </p:txBody>
      </p:sp>
      <p:sp>
        <p:nvSpPr>
          <p:cNvPr id="16" name="Arrow 1"/>
          <p:cNvSpPr/>
          <p:nvPr/>
        </p:nvSpPr>
        <p:spPr>
          <a:xfrm>
            <a:off x="5587898" y="2308860"/>
            <a:ext cx="1015898" cy="0"/>
          </a:xfrm>
          <a:prstGeom prst="line">
            <a:avLst/>
          </a:prstGeom>
          <a:noFill/>
          <a:ln w="19050">
            <a:solidFill>
              <a:srgbClr val="6B0F1A"/>
            </a:solidFill>
            <a:prstDash val="solid"/>
            <a:tailEnd type="triangle"/>
          </a:ln>
        </p:spPr>
        <p:txBody>
          <a:bodyPr/>
          <a:lstStyle/>
          <a:p>
            <a:endParaRPr lang="en-US"/>
          </a:p>
        </p:txBody>
      </p:sp>
      <p:sp>
        <p:nvSpPr>
          <p:cNvPr id="17" name="Arrow 2"/>
          <p:cNvSpPr/>
          <p:nvPr/>
        </p:nvSpPr>
        <p:spPr>
          <a:xfrm>
            <a:off x="8615477" y="2308860"/>
            <a:ext cx="1015898" cy="0"/>
          </a:xfrm>
          <a:prstGeom prst="line">
            <a:avLst/>
          </a:prstGeom>
          <a:noFill/>
          <a:ln w="19050">
            <a:solidFill>
              <a:srgbClr val="6B0F1A"/>
            </a:solidFill>
            <a:prstDash val="solid"/>
            <a:tailEnd type="triangle"/>
          </a:ln>
        </p:spPr>
        <p:txBody>
          <a:bodyPr/>
          <a:lstStyle/>
          <a:p>
            <a:endParaRPr lang="en-US"/>
          </a:p>
        </p:txBody>
      </p:sp>
      <p:graphicFrame>
        <p:nvGraphicFramePr>
          <p:cNvPr id="18" name="Lifecycle"/>
          <p:cNvGraphicFramePr>
            <a:graphicFrameLocks noGrp="1"/>
          </p:cNvGraphicFramePr>
          <p:nvPr>
            <p:extLst>
              <p:ext uri="{D42A27DB-BD31-4B8C-83A1-F6EECF244321}">
                <p14:modId xmlns:p14="http://schemas.microsoft.com/office/powerpoint/2010/main" val="1579011935"/>
              </p:ext>
            </p:extLst>
          </p:nvPr>
        </p:nvGraphicFramePr>
        <p:xfrm>
          <a:off x="548640" y="3383280"/>
          <a:ext cx="7315200" cy="2414016"/>
        </p:xfrm>
        <a:graphic>
          <a:graphicData uri="http://schemas.openxmlformats.org/drawingml/2006/table">
            <a:tbl>
              <a:tblPr/>
              <a:tblGrid>
                <a:gridCol w="155448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402336">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Stage</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l">
                        <a:buNone/>
                      </a:pPr>
                      <a:r>
                        <a:rPr lang="en-US" sz="1400" b="1" dirty="0">
                          <a:solidFill>
                            <a:schemeClr val="bg1"/>
                          </a:solidFill>
                          <a:latin typeface="Calibri" pitchFamily="34" charset="0"/>
                          <a:ea typeface="Calibri" pitchFamily="34" charset="-122"/>
                          <a:cs typeface="Calibri" pitchFamily="34" charset="-120"/>
                        </a:rPr>
                        <a:t>Dispatcher action</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Arrival</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Give a unique request ID; keep the intended arrival time</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Waiting</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Queue it as foreground or background; record admission time</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Submission</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Check the limit, give it an aligned buffer, submit; record time</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Completion</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Match the ID, record completion time, check the result</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02336">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Verification</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Verify the bytes, record its time and one result, free the buffer</a:t>
                      </a:r>
                      <a:endParaRPr lang="en-US" sz="14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19" name="Rules card"/>
          <p:cNvSpPr/>
          <p:nvPr/>
        </p:nvSpPr>
        <p:spPr>
          <a:xfrm>
            <a:off x="8138160" y="3383280"/>
            <a:ext cx="3502152" cy="2414016"/>
          </a:xfrm>
          <a:prstGeom prst="roundRect">
            <a:avLst>
              <a:gd name="adj" fmla="val 4545"/>
            </a:avLst>
          </a:prstGeom>
          <a:solidFill>
            <a:schemeClr val="bg2"/>
          </a:solidFill>
          <a:ln w="9525">
            <a:solidFill>
              <a:srgbClr val="EBD5D7"/>
            </a:solidFill>
            <a:prstDash val="solid"/>
          </a:ln>
        </p:spPr>
        <p:txBody>
          <a:bodyPr/>
          <a:lstStyle/>
          <a:p>
            <a:endParaRPr lang="en-US"/>
          </a:p>
        </p:txBody>
      </p:sp>
      <p:sp>
        <p:nvSpPr>
          <p:cNvPr id="20" name="Text 17"/>
          <p:cNvSpPr txBox="1"/>
          <p:nvPr/>
        </p:nvSpPr>
        <p:spPr>
          <a:xfrm>
            <a:off x="8366760" y="3520440"/>
            <a:ext cx="3108960" cy="365760"/>
          </a:xfrm>
          <a:prstGeom prst="rect">
            <a:avLst/>
          </a:prstGeom>
          <a:noFill/>
          <a:ln/>
        </p:spPr>
        <p:txBody>
          <a:bodyPr wrap="square" lIns="0" tIns="0" rIns="0" bIns="0" rtlCol="0" anchor="ctr"/>
          <a:lstStyle/>
          <a:p>
            <a:pPr marL="0" indent="0">
              <a:buNone/>
            </a:pPr>
            <a:r>
              <a:rPr lang="en-US" sz="1600" b="1" dirty="0">
                <a:solidFill>
                  <a:schemeClr val="accent2"/>
                </a:solidFill>
              </a:rPr>
              <a:t>Safety rules</a:t>
            </a:r>
            <a:endParaRPr lang="en-US" sz="1600" dirty="0"/>
          </a:p>
        </p:txBody>
      </p:sp>
      <p:sp>
        <p:nvSpPr>
          <p:cNvPr id="21" name="Text 18"/>
          <p:cNvSpPr txBox="1"/>
          <p:nvPr/>
        </p:nvSpPr>
        <p:spPr>
          <a:xfrm>
            <a:off x="8366760" y="3931920"/>
            <a:ext cx="3108960" cy="17830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Lowering q pauses new background reads; submitted reads finish</a:t>
            </a:r>
            <a:endParaRPr lang="en-US" sz="1400" dirty="0"/>
          </a:p>
          <a:p>
            <a:pPr marL="342900" indent="-342900">
              <a:spcAft>
                <a:spcPts val="400"/>
              </a:spcAft>
              <a:buSzPct val="100000"/>
              <a:buChar char="•"/>
            </a:pPr>
            <a:r>
              <a:rPr lang="en-US" sz="1400" dirty="0">
                <a:solidFill>
                  <a:schemeClr val="tx1"/>
                </a:solidFill>
              </a:rPr>
              <a:t>Outstanding count changes once per read</a:t>
            </a:r>
            <a:endParaRPr lang="en-US" sz="1400" dirty="0"/>
          </a:p>
          <a:p>
            <a:pPr marL="342900" indent="-342900">
              <a:spcAft>
                <a:spcPts val="400"/>
              </a:spcAft>
              <a:buSzPct val="100000"/>
              <a:buChar char="•"/>
            </a:pPr>
            <a:r>
              <a:rPr lang="en-US" sz="1400" dirty="0">
                <a:solidFill>
                  <a:schemeClr val="tx1"/>
                </a:solidFill>
              </a:rPr>
              <a:t>Shutdown drains accepted work; an interrupt logs unsubmitted reads as errors</a:t>
            </a:r>
            <a:endParaRPr lang="en-US" sz="1400" dirty="0"/>
          </a:p>
        </p:txBody>
      </p:sp>
      <p:sp>
        <p:nvSpPr>
          <p:cNvPr id="22" name="Text 19"/>
          <p:cNvSpPr txBox="1"/>
          <p:nvPr/>
        </p:nvSpPr>
        <p:spPr>
          <a:xfrm>
            <a:off x="548640" y="5943600"/>
            <a:ext cx="10972800" cy="274320"/>
          </a:xfrm>
          <a:prstGeom prst="rect">
            <a:avLst/>
          </a:prstGeom>
          <a:noFill/>
          <a:ln/>
        </p:spPr>
        <p:txBody>
          <a:bodyPr wrap="square" lIns="0" tIns="0" rIns="0" bIns="0" rtlCol="0" anchor="ctr"/>
          <a:lstStyle/>
          <a:p>
            <a:pPr marL="0" indent="0">
              <a:buNone/>
            </a:pP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pic>
        <p:nvPicPr>
          <p:cNvPr id="26" name="Missouri State logo" descr="logo.png"/>
          <p:cNvPicPr>
            <a:picLocks noChangeAspect="1"/>
          </p:cNvPicPr>
          <p:nvPr/>
        </p:nvPicPr>
        <p:blipFill>
          <a:blip r:embed="rId3"/>
          <a:stretch>
            <a:fillRect/>
          </a:stretch>
        </p:blipFill>
        <p:spPr>
          <a:xfrm>
            <a:off x="9814560" y="201168"/>
            <a:ext cx="1828800" cy="363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200" dirty="0">
                <a:solidFill>
                  <a:schemeClr val="accent4"/>
                </a:solidFill>
                <a:latin typeface="Calibri" pitchFamily="34" charset="0"/>
                <a:ea typeface="Calibri" pitchFamily="34" charset="-122"/>
                <a:cs typeface="Calibri" pitchFamily="34" charset="-120"/>
              </a:rPr>
              <a:t>ADDITIONAL WORK BEYOND THE PLAN · MOSTAFA BABAEI · OCT 19</a:t>
            </a:r>
            <a:endParaRPr lang="en-US" sz="1200" dirty="0"/>
          </a:p>
        </p:txBody>
      </p:sp>
      <p:sp>
        <p:nvSpPr>
          <p:cNvPr id="3" name="Text 0"/>
          <p:cNvSpPr>
            <a:spLocks noGrp="1"/>
          </p:cNvSpPr>
          <p:nvPr>
            <p:ph type="title" idx="100" hasCustomPrompt="1"/>
          </p:nvPr>
        </p:nvSpPr>
        <p:spPr>
          <a:xfrm>
            <a:off x="548640" y="658368"/>
            <a:ext cx="11094415" cy="731520"/>
          </a:xfrm>
          <a:prstGeom prst="rect">
            <a:avLst/>
          </a:prstGeom>
          <a:noFill/>
          <a:ln/>
        </p:spPr>
        <p:txBody>
          <a:bodyPr wrap="square" lIns="0" tIns="0" rIns="0" bIns="0" rtlCol="0" anchor="t"/>
          <a:lstStyle/>
          <a:p>
            <a:pPr marL="0" indent="0" algn="l">
              <a:buNone/>
            </a:pPr>
            <a:r>
              <a:rPr lang="en-US" sz="3200" b="1" dirty="0">
                <a:solidFill>
                  <a:schemeClr val="tx1"/>
                </a:solidFill>
              </a:rPr>
              <a:t>Python foreground/background pilot</a:t>
            </a:r>
            <a:endParaRPr lang="en-US" sz="3200" dirty="0"/>
          </a:p>
        </p:txBody>
      </p:sp>
      <p:graphicFrame>
        <p:nvGraphicFramePr>
          <p:cNvPr id="4" name="Pilot p99 chart"/>
          <p:cNvGraphicFramePr/>
          <p:nvPr/>
        </p:nvGraphicFramePr>
        <p:xfrm>
          <a:off x="548640" y="1554480"/>
          <a:ext cx="676656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Pilot facts"/>
          <p:cNvGraphicFramePr>
            <a:graphicFrameLocks noGrp="1"/>
          </p:cNvGraphicFramePr>
          <p:nvPr>
            <p:extLst>
              <p:ext uri="{D42A27DB-BD31-4B8C-83A1-F6EECF244321}">
                <p14:modId xmlns:p14="http://schemas.microsoft.com/office/powerpoint/2010/main" val="1579011935"/>
              </p:ext>
            </p:extLst>
          </p:nvPr>
        </p:nvGraphicFramePr>
        <p:xfrm>
          <a:off x="7543800" y="1600200"/>
          <a:ext cx="4096512" cy="2767584"/>
        </p:xfrm>
        <a:graphic>
          <a:graphicData uri="http://schemas.openxmlformats.org/drawingml/2006/table">
            <a:tbl>
              <a:tblPr/>
              <a:tblGrid>
                <a:gridCol w="1463040">
                  <a:extLst>
                    <a:ext uri="{9D8B030D-6E8A-4147-A177-3AD203B41FA5}">
                      <a16:colId xmlns:a16="http://schemas.microsoft.com/office/drawing/2014/main" val="20000"/>
                    </a:ext>
                  </a:extLst>
                </a:gridCol>
                <a:gridCol w="2633472">
                  <a:extLst>
                    <a:ext uri="{9D8B030D-6E8A-4147-A177-3AD203B41FA5}">
                      <a16:colId xmlns:a16="http://schemas.microsoft.com/office/drawing/2014/main" val="20001"/>
                    </a:ext>
                  </a:extLst>
                </a:gridCol>
              </a:tblGrid>
              <a:tr h="457200">
                <a:tc>
                  <a:txBody>
                    <a:bodyPr/>
                    <a:lstStyle/>
                    <a:p>
                      <a:pPr marL="0" indent="0" algn="l">
                        <a:buNone/>
                      </a:pPr>
                      <a:r>
                        <a:rPr lang="en-US" sz="1300" b="1" dirty="0">
                          <a:solidFill>
                            <a:schemeClr val="bg1"/>
                          </a:solidFill>
                          <a:latin typeface="Calibri" pitchFamily="34" charset="0"/>
                          <a:ea typeface="Calibri" pitchFamily="34" charset="-122"/>
                          <a:cs typeface="Calibri" pitchFamily="34" charset="-120"/>
                        </a:rPr>
                        <a:t>Pilot facts</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tc>
                  <a:txBody>
                    <a:bodyPr/>
                    <a:lstStyle/>
                    <a:p>
                      <a:pPr marL="0" indent="0" algn="l">
                        <a:buNone/>
                      </a:pP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Backend</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Python threads + preadv + O_DIRECT, not C/io_uring</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Cases</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6 conditions × 3 repetitions = 18</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Errors · rejections</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0 · 0</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Background rate</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8.175 MiB/s in every case: set by the cap plus a 2 MiB start burst</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tc>
                  <a:txBody>
                    <a:bodyPr/>
                    <a:lstStyle/>
                    <a:p>
                      <a:pPr marL="0" indent="0" algn="l">
                        <a:buNone/>
                      </a:pPr>
                      <a:r>
                        <a:rPr lang="en-US" sz="1300" dirty="0">
                          <a:solidFill>
                            <a:schemeClr val="tx1"/>
                          </a:solidFill>
                          <a:latin typeface="Calibri" pitchFamily="34" charset="0"/>
                          <a:ea typeface="Calibri" pitchFamily="34" charset="-122"/>
                          <a:cs typeface="Calibri" pitchFamily="34" charset="-120"/>
                        </a:rPr>
                        <a:t>4 MiB, reused; may sit in cache</a:t>
                      </a:r>
                      <a:endParaRPr lang="en-US" sz="1300" dirty="0">
                        <a:latin typeface="Calibri" charset="0"/>
                        <a:ea typeface="Calibri" charset="0"/>
                        <a:cs typeface="Calibri" charset="0"/>
                      </a:endParaRPr>
                    </a:p>
                  </a:txBody>
                  <a:tcPr marT="36576" marB="36576" anchor="ctr">
                    <a:lnL w="6350" cap="flat" cmpd="sng" algn="ctr">
                      <a:solidFill>
                        <a:srgbClr val="EBD5D7"/>
                      </a:solidFill>
                      <a:prstDash val="solid"/>
                      <a:round/>
                      <a:headEnd type="none" w="med" len="med"/>
                      <a:tailEnd type="none" w="med" len="med"/>
                    </a:lnL>
                    <a:lnR w="6350" cap="flat" cmpd="sng" algn="ctr">
                      <a:solidFill>
                        <a:srgbClr val="EBD5D7"/>
                      </a:solidFill>
                      <a:prstDash val="solid"/>
                      <a:round/>
                      <a:headEnd type="none" w="med" len="med"/>
                      <a:tailEnd type="none" w="med" len="med"/>
                    </a:lnR>
                    <a:lnT w="6350" cap="flat" cmpd="sng" algn="ctr">
                      <a:solidFill>
                        <a:srgbClr val="EBD5D7"/>
                      </a:solidFill>
                      <a:prstDash val="solid"/>
                      <a:round/>
                      <a:headEnd type="none" w="med" len="med"/>
                      <a:tailEnd type="none" w="med" len="med"/>
                    </a:lnT>
                    <a:lnB w="6350" cap="flat" cmpd="sng" algn="ctr">
                      <a:solidFill>
                        <a:srgbClr val="EBD5D7"/>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6" name="Text 2"/>
          <p:cNvSpPr txBox="1"/>
          <p:nvPr/>
        </p:nvSpPr>
        <p:spPr>
          <a:xfrm>
            <a:off x="7543800" y="4617720"/>
            <a:ext cx="4096512" cy="1143000"/>
          </a:xfrm>
          <a:prstGeom prst="rect">
            <a:avLst/>
          </a:prstGeom>
          <a:noFill/>
          <a:ln/>
        </p:spPr>
        <p:txBody>
          <a:bodyPr wrap="square" lIns="0" tIns="0" rIns="0" bIns="0" rtlCol="0" anchor="t"/>
          <a:lstStyle/>
          <a:p>
            <a:pPr marL="0" indent="0">
              <a:buNone/>
            </a:pPr>
            <a:r>
              <a:rPr lang="en-US" sz="1400" b="1" dirty="0">
                <a:solidFill>
                  <a:schemeClr val="tx1"/>
                </a:solidFill>
              </a:rPr>
              <a:t>No consistent winner across q. Short runs and a small cached file limit what this shows: no optimal q or HDD result.</a:t>
            </a:r>
            <a:endParaRPr lang="en-US" sz="1400" dirty="0"/>
          </a:p>
        </p:txBody>
      </p:sp>
      <p:sp>
        <p:nvSpPr>
          <p:cNvPr id="7" name="Text 3"/>
          <p:cNvSpPr txBox="1"/>
          <p:nvPr/>
        </p:nvSpPr>
        <p:spPr>
          <a:xfrm>
            <a:off x="548640" y="5943600"/>
            <a:ext cx="10972800" cy="274320"/>
          </a:xfrm>
          <a:prstGeom prst="rect">
            <a:avLst/>
          </a:prstGeom>
          <a:noFill/>
          <a:ln/>
        </p:spPr>
        <p:txBody>
          <a:bodyPr wrap="square" lIns="0" tIns="0" rIns="0" bIns="0" rtlCol="0" anchor="ctr"/>
          <a:lstStyle/>
          <a:p>
            <a:pPr marL="0" indent="0">
              <a:buNone/>
            </a:pPr>
            <a:r>
              <a:rPr lang="en-US" sz="1100" dirty="0">
                <a:solidFill>
                  <a:schemeClr val="accent6"/>
                </a:solidFill>
              </a:rPr>
              <a:t>Each bar is one run’s p99; runs are not averaged. Source: foreground_background_pilot/server_evidence/pilot_jq_1doyv/summary.md</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pic>
        <p:nvPicPr>
          <p:cNvPr id="26" name="Missouri State logo" descr="logo.png"/>
          <p:cNvPicPr>
            <a:picLocks noChangeAspect="1"/>
          </p:cNvPicPr>
          <p:nvPr/>
        </p:nvPicPr>
        <p:blipFill>
          <a:blip r:embed="rId4"/>
          <a:stretch>
            <a:fillRect/>
          </a:stretch>
        </p:blipFill>
        <p:spPr>
          <a:xfrm>
            <a:off x="9814560" y="201168"/>
            <a:ext cx="1828800" cy="363616"/>
          </a:xfrm>
          <a:prstGeom prst="rect">
            <a:avLst/>
          </a:prstGeom>
        </p:spPr>
      </p:pic>
    </p:spTree>
  </p:cSld>
  <p:clrMapOvr>
    <a:masterClrMapping/>
  </p:clrMapOvr>
</p:sld>
</file>

<file path=ppt/theme/theme1.xml><?xml version="1.0" encoding="utf-8"?>
<a:theme xmlns:a="http://schemas.openxmlformats.org/drawingml/2006/main" name="Project 03 Storage">
  <a:themeElements>
    <a:clrScheme name="Project 03 Storage">
      <a:dk1>
        <a:srgbClr val="6B0F1A"/>
      </a:dk1>
      <a:lt1>
        <a:srgbClr val="FFFFFF"/>
      </a:lt1>
      <a:dk2>
        <a:srgbClr val="4A5568"/>
      </a:dk2>
      <a:lt2>
        <a:srgbClr val="FBF1F1"/>
      </a:lt2>
      <a:accent1>
        <a:srgbClr val="FF6B6B"/>
      </a:accent1>
      <a:accent2>
        <a:srgbClr val="C1121F"/>
      </a:accent2>
      <a:accent3>
        <a:srgbClr val="8D5B4C"/>
      </a:accent3>
      <a:accent4>
        <a:srgbClr val="9D0208"/>
      </a:accent4>
      <a:accent5>
        <a:srgbClr val="E8C4C8"/>
      </a:accent5>
      <a:accent6>
        <a:srgbClr val="6B7280"/>
      </a:accent6>
      <a:hlink>
        <a:srgbClr val="C1121F"/>
      </a:hlink>
      <a:folHlink>
        <a:srgbClr val="6B7280"/>
      </a:folHlink>
    </a:clrScheme>
    <a:fontScheme name="Project 03 Stora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1530</Words>
  <Application>Microsoft Office PowerPoint</Application>
  <PresentationFormat>Widescreen</PresentationFormat>
  <Paragraphs>175</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Cambria</vt:lpstr>
      <vt:lpstr>Courier New</vt:lpstr>
      <vt:lpstr>Project 03 Storage</vt:lpstr>
      <vt:lpstr>Adaptive Background Queue Depth for HDDs</vt:lpstr>
      <vt:lpstr>Every tool is now available, without sudo</vt:lpstr>
      <vt:lpstr>C/io_uring read test with byte checks</vt:lpstr>
      <vt:lpstr>Every correctness check passed</vt:lpstr>
      <vt:lpstr>Reading the test files with up to 8 reads in flight</vt:lpstr>
      <vt:lpstr>Three signs babbage's disk is not an HDD</vt:lpstr>
      <vt:lpstr>Proposed dispatcher: two queues, one io_uring backend</vt:lpstr>
      <vt:lpstr>Python foreground/background pilot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Milestone 1: Adaptive Background Queue Depth for HDDs</dc:title>
  <dc:subject>PptxGenJS Presentation</dc:subject>
  <dc:creator>Muhammad Ahmad Tariq</dc:creator>
  <cp:lastModifiedBy>mostafa b</cp:lastModifiedBy>
  <cp:revision>4</cp:revision>
  <dcterms:created xsi:type="dcterms:W3CDTF">2026-10-19T17:38:56Z</dcterms:created>
  <dcterms:modified xsi:type="dcterms:W3CDTF">2026-10-19T20:23:21Z</dcterms:modified>
</cp:coreProperties>
</file>